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4" Type="http://schemas.openxmlformats.org/officeDocument/2006/relationships/slide" Target="slides/slide4.xml" /><Relationship Id="rId9" Type="http://schemas.openxmlformats.org/officeDocument/2006/relationships/slide" Target="slides/slide9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presProps" Target="presProps.xml" /><Relationship Id="rId3" Type="http://schemas.openxmlformats.org/officeDocument/2006/relationships/slide" Target="slides/slide3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/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CN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CN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Relationship Id="rId3" Type="http://schemas.openxmlformats.org/officeDocument/2006/relationships/slideLayout" Target="../slideLayouts/slideLayout4.xml" /><Relationship Id="rId9" Type="http://schemas.openxmlformats.org/officeDocument/2006/relationships/slideLayout" Target="../slideLayouts/slideLayout10.xml" /><Relationship Id="rId10" Type="http://schemas.openxmlformats.org/officeDocument/2006/relationships/slideLayout" Target="../slideLayouts/slideLayout11.xml" /><Relationship Id="rId4" Type="http://schemas.openxmlformats.org/officeDocument/2006/relationships/slideLayout" Target="../slideLayouts/slideLayout5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5" Type="http://schemas.openxmlformats.org/officeDocument/2006/relationships/slideLayout" Target="../slideLayouts/slideLayout6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fld id="{F1999F08-79FE-AA4C-9B9D-785CACBE3F19}" type="datetimeFigureOut">
              <a:rPr lang="en-CN" smtClean="0"/>
              <a:t>2026/5/12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fld id="{687ADD7D-5451-F94B-9F2C-E86DFFC8390B}" type="slidenum">
              <a:rPr lang="en-CN" smtClean="0"/>
              <a:t>‹#›</a:t>
            </a:fld>
            <a:endParaRPr lang="en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35000" y="2286000"/>
            <a:ext cx="10922000" cy="1143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3600">
                <a:solidFill>
                  <a:srgbClr val="1A3C6E"/>
                </a:solidFill>
                <a:latin typeface="微软雅黑"/>
                <a:ea typeface="微软雅黑"/>
              </a:rPr>
              <a:t>水肥混配系统 PSO 离线整定方案</a:t>
            </a:r>
            <a:endParaRPr/>
          </a:p>
        </p:txBody>
      </p:sp>
      <p:sp>
        <p:nvSpPr>
          <p:cNvPr id="3" name=""/>
          <p:cNvSpPr/>
          <p:nvPr/>
        </p:nvSpPr>
        <p:spPr>
          <a:xfrm>
            <a:off x="635000" y="3683000"/>
            <a:ext cx="10922000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800">
                <a:solidFill>
                  <a:srgbClr val="555555"/>
                </a:solidFill>
                <a:latin typeface="微软雅黑"/>
                <a:ea typeface="微软雅黑"/>
              </a:rPr>
              <a:t>基于完整数字孪生的 IMC 参数优化</a:t>
            </a:r>
            <a:endParaRPr/>
          </a:p>
        </p:txBody>
      </p:sp>
      <p:sp>
        <p:nvSpPr>
          <p:cNvPr id="4" name=""/>
          <p:cNvSpPr/>
          <p:nvPr/>
        </p:nvSpPr>
        <p:spPr>
          <a:xfrm>
            <a:off x="635000" y="50800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888888"/>
                </a:solidFill>
                <a:latin typeface="微软雅黑"/>
                <a:ea typeface="微软雅黑"/>
              </a:rPr>
              <a:t>水肥混配控制论文 · V3.2 试验设计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508000" y="381000"/>
            <a:ext cx="11176000" cy="5715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800">
                <a:solidFill>
                  <a:srgbClr val="1A3C6E"/>
                </a:solidFill>
                <a:latin typeface="微软雅黑"/>
                <a:ea typeface="微软雅黑"/>
              </a:rPr>
              <a:t>项目背景</a:t>
            </a:r>
            <a:endParaRPr/>
          </a:p>
        </p:txBody>
      </p:sp>
      <p:sp>
        <p:nvSpPr>
          <p:cNvPr id="7" name=""/>
          <p:cNvSpPr/>
          <p:nvPr/>
        </p:nvSpPr>
        <p:spPr>
          <a:xfrm>
            <a:off x="508000" y="11430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333333"/>
                </a:solidFill>
                <a:latin typeface="微软雅黑"/>
                <a:ea typeface="微软雅黑"/>
              </a:rPr>
              <a:t>水肥混配系统 EC-pH 解耦与优化内模控制</a:t>
            </a:r>
            <a:endParaRPr/>
          </a:p>
        </p:txBody>
      </p:sp>
      <p:sp>
        <p:nvSpPr>
          <p:cNvPr id="8" name=""/>
          <p:cNvSpPr/>
          <p:nvPr/>
        </p:nvSpPr>
        <p:spPr>
          <a:xfrm>
            <a:off x="508000" y="2032000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研究目标</a:t>
            </a:r>
            <a:endParaRPr/>
          </a:p>
        </p:txBody>
      </p:sp>
      <p:sp>
        <p:nvSpPr>
          <p:cNvPr id="9" name=""/>
          <p:cNvSpPr/>
          <p:nvPr/>
        </p:nvSpPr>
        <p:spPr>
          <a:xfrm>
            <a:off x="508000" y="2476500"/>
            <a:ext cx="5334000" cy="1016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555555"/>
                </a:solidFill>
                <a:latin typeface="微软雅黑"/>
                <a:ea typeface="微软雅黑"/>
              </a:rPr>
              <a:t>在水肥混配试验台上，通过约束解耦与离线优化的内模控制，提高出口 EC 跟踪精度，并使 pH 稳定保持在合理区间内 (5.8-6.5)。</a:t>
            </a:r>
            <a:endParaRPr/>
          </a:p>
        </p:txBody>
      </p:sp>
      <p:sp>
        <p:nvSpPr>
          <p:cNvPr id="10" name=""/>
          <p:cNvSpPr/>
          <p:nvPr/>
        </p:nvSpPr>
        <p:spPr>
          <a:xfrm>
            <a:off x="508000" y="3683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关键问题</a:t>
            </a:r>
            <a:endParaRPr/>
          </a:p>
        </p:txBody>
      </p:sp>
      <p:sp>
        <p:nvSpPr>
          <p:cNvPr id="11" name=""/>
          <p:cNvSpPr/>
          <p:nvPr/>
        </p:nvSpPr>
        <p:spPr>
          <a:xfrm>
            <a:off x="508000" y="4127500"/>
            <a:ext cx="11176000" cy="152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555555"/>
                </a:solidFill>
                <a:latin typeface="微软雅黑"/>
                <a:ea typeface="微软雅黑"/>
              </a:rPr>
              <a:t>1. EC 与 pH 存在交叉耦合（加肥影响 pH，加酸影响 EC）
2. 管道和混合过程存在大滞后（180-190s 纯滞后）
3. 酸泵单向执行（只能降 pH，不能升 pH）
4. 固定 PI 参数在多工况下表现不足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控制架构：SAC 与 PSO 分层</a:t>
            </a:r>
            <a:endParaRPr/>
          </a:p>
        </p:txBody>
      </p:sp>
      <p:sp>
        <p:nvSpPr>
          <p:cNvPr id="14" name=""/>
          <p:cNvSpPr/>
          <p:nvPr/>
        </p:nvSpPr>
        <p:spPr>
          <a:xfrm>
            <a:off x="508000" y="889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888888"/>
                </a:solidFill>
                <a:latin typeface="微软雅黑"/>
                <a:ea typeface="微软雅黑"/>
              </a:rPr>
              <a:t>SAC 负责「目标是什么」    PSO 负责「怎么追目标」</a:t>
            </a:r>
            <a:endParaRPr/>
          </a:p>
        </p:txBody>
      </p:sp>
      <p:sp>
        <p:nvSpPr>
          <p:cNvPr id="15" name=""/>
          <p:cNvSpPr/>
          <p:nvPr/>
        </p:nvSpPr>
        <p:spPr>
          <a:xfrm>
            <a:off x="508000" y="1524000"/>
            <a:ext cx="3175000" cy="1778000"/>
          </a:xfrm>
          <a:prstGeom prst="rect">
            <a:avLst/>
          </a:prstGeom>
          <a:solidFill>
            <a:srgbClr val="E8F0FE"/>
          </a:solidFill>
          <a:ln w="19050">
            <a:solidFill>
              <a:srgbClr val="1A3C6E"/>
            </a:solidFill>
            <a:prstDash val="solid"/>
          </a:ln>
        </p:spPr>
        <p:txBody>
          <a:bodyPr/>
          <a:p/>
        </p:txBody>
      </p:sp>
      <p:sp>
        <p:nvSpPr>
          <p:cNvPr id="16" name=""/>
          <p:cNvSpPr/>
          <p:nvPr/>
        </p:nvSpPr>
        <p:spPr>
          <a:xfrm>
            <a:off x="4508500" y="1524000"/>
            <a:ext cx="3175000" cy="1778000"/>
          </a:xfrm>
          <a:prstGeom prst="rect">
            <a:avLst/>
          </a:prstGeom>
          <a:solidFill>
            <a:srgbClr val="FEF3E8"/>
          </a:solidFill>
          <a:ln w="19050">
            <a:solidFill>
              <a:srgbClr val="CC7000"/>
            </a:solidFill>
            <a:prstDash val="solid"/>
          </a:ln>
        </p:spPr>
        <p:txBody>
          <a:bodyPr/>
          <a:p/>
        </p:txBody>
      </p:sp>
      <p:sp>
        <p:nvSpPr>
          <p:cNvPr id="17" name=""/>
          <p:cNvSpPr/>
          <p:nvPr/>
        </p:nvSpPr>
        <p:spPr>
          <a:xfrm>
            <a:off x="8509000" y="1524000"/>
            <a:ext cx="3175000" cy="1778000"/>
          </a:xfrm>
          <a:prstGeom prst="rect">
            <a:avLst/>
          </a:prstGeom>
          <a:solidFill>
            <a:srgbClr val="E8FEF0"/>
          </a:solidFill>
          <a:ln w="19050">
            <a:solidFill>
              <a:srgbClr val="007A3D"/>
            </a:solidFill>
            <a:prstDash val="solid"/>
          </a:ln>
        </p:spPr>
        <p:txBody>
          <a:bodyPr/>
          <a:p/>
        </p:txBody>
      </p:sp>
      <p:sp>
        <p:nvSpPr>
          <p:cNvPr id="18" name=""/>
          <p:cNvSpPr/>
          <p:nvPr/>
        </p:nvSpPr>
        <p:spPr>
          <a:xfrm>
            <a:off x="508000" y="3556000"/>
            <a:ext cx="3175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p/>
        </p:txBody>
      </p:sp>
      <p:sp>
        <p:nvSpPr>
          <p:cNvPr id="19" name=""/>
          <p:cNvSpPr/>
          <p:nvPr/>
        </p:nvSpPr>
        <p:spPr>
          <a:xfrm>
            <a:off x="4508500" y="3556000"/>
            <a:ext cx="3175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p/>
        </p:txBody>
      </p:sp>
      <p:sp>
        <p:nvSpPr>
          <p:cNvPr id="20" name=""/>
          <p:cNvSpPr/>
          <p:nvPr/>
        </p:nvSpPr>
        <p:spPr>
          <a:xfrm>
            <a:off x="8509000" y="3556000"/>
            <a:ext cx="3175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p/>
        </p:txBody>
      </p:sp>
      <p:sp>
        <p:nvSpPr>
          <p:cNvPr id="21" name=""/>
          <p:cNvSpPr/>
          <p:nvPr/>
        </p:nvSpPr>
        <p:spPr>
          <a:xfrm>
            <a:off x="698500" y="17145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1A3C6E"/>
                </a:solidFill>
                <a:latin typeface="微软雅黑"/>
                <a:ea typeface="微软雅黑"/>
              </a:rPr>
              <a:t>SAC 强化学习层</a:t>
            </a:r>
            <a:endParaRPr/>
          </a:p>
        </p:txBody>
      </p:sp>
      <p:sp>
        <p:nvSpPr>
          <p:cNvPr id="22" name=""/>
          <p:cNvSpPr/>
          <p:nvPr/>
        </p:nvSpPr>
        <p:spPr>
          <a:xfrm>
            <a:off x="698500" y="2159000"/>
            <a:ext cx="27940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66666"/>
                </a:solidFill>
                <a:latin typeface="微软雅黑"/>
                <a:ea typeface="微软雅黑"/>
              </a:rPr>
              <a:t>输出：[water_multiplier,
EC_residual]
决定灌多少水、目标EC</a:t>
            </a:r>
            <a:endParaRPr/>
          </a:p>
        </p:txBody>
      </p:sp>
      <p:sp>
        <p:nvSpPr>
          <p:cNvPr id="23" name=""/>
          <p:cNvSpPr/>
          <p:nvPr/>
        </p:nvSpPr>
        <p:spPr>
          <a:xfrm>
            <a:off x="4699000" y="17145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CC7000"/>
                </a:solidFill>
                <a:latin typeface="微软雅黑"/>
                <a:ea typeface="微软雅黑"/>
              </a:rPr>
              <a:t>PSO 离线优化层</a:t>
            </a:r>
            <a:endParaRPr/>
          </a:p>
        </p:txBody>
      </p:sp>
      <p:sp>
        <p:nvSpPr>
          <p:cNvPr id="24" name=""/>
          <p:cNvSpPr/>
          <p:nvPr/>
        </p:nvSpPr>
        <p:spPr>
          <a:xfrm>
            <a:off x="4699000" y="2159000"/>
            <a:ext cx="27940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66666"/>
                </a:solidFill>
                <a:latin typeface="微软雅黑"/>
                <a:ea typeface="微软雅黑"/>
              </a:rPr>
              <a:t>搜索：[λ_EC, λ_pH, β]
决定PID跟踪精度
离线运行，参数冻结</a:t>
            </a:r>
            <a:endParaRPr/>
          </a:p>
        </p:txBody>
      </p:sp>
      <p:sp>
        <p:nvSpPr>
          <p:cNvPr id="25" name=""/>
          <p:cNvSpPr/>
          <p:nvPr/>
        </p:nvSpPr>
        <p:spPr>
          <a:xfrm>
            <a:off x="8699500" y="17145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007A3D"/>
                </a:solidFill>
                <a:latin typeface="微软雅黑"/>
                <a:ea typeface="微软雅黑"/>
              </a:rPr>
              <a:t>PLC 实时执行层</a:t>
            </a:r>
            <a:endParaRPr/>
          </a:p>
        </p:txBody>
      </p:sp>
      <p:sp>
        <p:nvSpPr>
          <p:cNvPr id="26" name=""/>
          <p:cNvSpPr/>
          <p:nvPr/>
        </p:nvSpPr>
        <p:spPr>
          <a:xfrm>
            <a:off x="8699500" y="2159000"/>
            <a:ext cx="27940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666666"/>
                </a:solidFill>
                <a:latin typeface="微软雅黑"/>
                <a:ea typeface="微软雅黑"/>
              </a:rPr>
              <a:t>执行固定PID参数
EC/pH闭环 + 解耦
安全联锁保护</a:t>
            </a:r>
            <a:endParaRPr/>
          </a:p>
        </p:txBody>
      </p:sp>
      <p:sp>
        <p:nvSpPr>
          <p:cNvPr id="27" name=""/>
          <p:cNvSpPr/>
          <p:nvPr/>
        </p:nvSpPr>
        <p:spPr>
          <a:xfrm>
            <a:off x="698500" y="3746500"/>
            <a:ext cx="2794000" cy="177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555555"/>
                </a:solidFill>
                <a:latin typeface="微软雅黑"/>
                <a:ea typeface="微软雅黑"/>
              </a:rPr>
              <a:t>运行时机
├ 训练：离线 (小时~天)
├ 推理：每灌溉事件
├ 论文：第二篇
└ 环境：DigitalTwinEnv</a:t>
            </a:r>
            <a:endParaRPr/>
          </a:p>
        </p:txBody>
      </p:sp>
      <p:sp>
        <p:nvSpPr>
          <p:cNvPr id="28" name=""/>
          <p:cNvSpPr/>
          <p:nvPr/>
        </p:nvSpPr>
        <p:spPr>
          <a:xfrm>
            <a:off x="4699000" y="3746500"/>
            <a:ext cx="2794000" cy="177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555555"/>
                </a:solidFill>
                <a:latin typeface="微软雅黑"/>
                <a:ea typeface="微软雅黑"/>
              </a:rPr>
              <a:t>运行时机
├ 执行：离线 (1-2小时)
├ 执行后：参数永久冻结
├ 论文：第一篇
└ 环境：PIDControlledTwinEnv</a:t>
            </a:r>
            <a:endParaRPr/>
          </a:p>
        </p:txBody>
      </p:sp>
      <p:sp>
        <p:nvSpPr>
          <p:cNvPr id="29" name=""/>
          <p:cNvSpPr/>
          <p:nvPr/>
        </p:nvSpPr>
        <p:spPr>
          <a:xfrm>
            <a:off x="8699500" y="3746500"/>
            <a:ext cx="2794000" cy="177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555555"/>
                </a:solidFill>
                <a:latin typeface="微软雅黑"/>
                <a:ea typeface="微软雅黑"/>
              </a:rPr>
              <a:t>运行时机
├ 实时：扫描周期级
├ 不参与优化/学习
├ 只跑固定冻结参数
└ 硬件：S7-1214C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PSO 离线优化工作流程</a:t>
            </a:r>
            <a:endParaRPr/>
          </a:p>
        </p:txBody>
      </p:sp>
      <p:sp>
        <p:nvSpPr>
          <p:cNvPr id="32" name=""/>
          <p:cNvSpPr/>
          <p:nvPr/>
        </p:nvSpPr>
        <p:spPr>
          <a:xfrm>
            <a:off x="508000" y="10160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888888"/>
                </a:solidFill>
                <a:latin typeface="微软雅黑"/>
                <a:ea typeface="微软雅黑"/>
              </a:rPr>
              <a:t>一次执行、参数冻结、永不再跑。根据 V3.2 论文 §5 设计</a:t>
            </a:r>
            <a:endParaRPr/>
          </a:p>
        </p:txBody>
      </p:sp>
      <p:sp>
        <p:nvSpPr>
          <p:cNvPr id="33" name=""/>
          <p:cNvSpPr/>
          <p:nvPr/>
        </p:nvSpPr>
        <p:spPr>
          <a:xfrm>
            <a:off x="762000" y="1778000"/>
            <a:ext cx="1651000" cy="762000"/>
          </a:xfrm>
          <a:prstGeom prst="rect">
            <a:avLst/>
          </a:prstGeom>
          <a:solidFill>
            <a:srgbClr val="E8F0FE"/>
          </a:solidFill>
          <a:ln w="12700">
            <a:solidFill>
              <a:srgbClr val="1A3C6E"/>
            </a:solidFill>
            <a:prstDash val="solid"/>
          </a:ln>
        </p:spPr>
        <p:txBody>
          <a:bodyPr/>
          <a:p/>
        </p:txBody>
      </p:sp>
      <p:sp>
        <p:nvSpPr>
          <p:cNvPr id="34" name=""/>
          <p:cNvSpPr/>
          <p:nvPr/>
        </p:nvSpPr>
        <p:spPr>
          <a:xfrm>
            <a:off x="3048000" y="1778000"/>
            <a:ext cx="1651000" cy="762000"/>
          </a:xfrm>
          <a:prstGeom prst="rect">
            <a:avLst/>
          </a:prstGeom>
          <a:solidFill>
            <a:srgbClr val="E8F0FE"/>
          </a:solidFill>
          <a:ln w="12700">
            <a:solidFill>
              <a:srgbClr val="1A3C6E"/>
            </a:solidFill>
            <a:prstDash val="solid"/>
          </a:ln>
        </p:spPr>
        <p:txBody>
          <a:bodyPr/>
          <a:p/>
        </p:txBody>
      </p:sp>
      <p:sp>
        <p:nvSpPr>
          <p:cNvPr id="35" name=""/>
          <p:cNvSpPr/>
          <p:nvPr/>
        </p:nvSpPr>
        <p:spPr>
          <a:xfrm>
            <a:off x="5334000" y="1778000"/>
            <a:ext cx="1651000" cy="762000"/>
          </a:xfrm>
          <a:prstGeom prst="rect">
            <a:avLst/>
          </a:prstGeom>
          <a:solidFill>
            <a:srgbClr val="E8F0FE"/>
          </a:solidFill>
          <a:ln w="12700">
            <a:solidFill>
              <a:srgbClr val="1A3C6E"/>
            </a:solidFill>
            <a:prstDash val="solid"/>
          </a:ln>
        </p:spPr>
        <p:txBody>
          <a:bodyPr/>
          <a:p/>
        </p:txBody>
      </p:sp>
      <p:sp>
        <p:nvSpPr>
          <p:cNvPr id="36" name=""/>
          <p:cNvSpPr/>
          <p:nvPr/>
        </p:nvSpPr>
        <p:spPr>
          <a:xfrm>
            <a:off x="7620000" y="1778000"/>
            <a:ext cx="1651000" cy="762000"/>
          </a:xfrm>
          <a:prstGeom prst="rect">
            <a:avLst/>
          </a:prstGeom>
          <a:solidFill>
            <a:srgbClr val="E8F0FE"/>
          </a:solidFill>
          <a:ln w="12700">
            <a:solidFill>
              <a:srgbClr val="1A3C6E"/>
            </a:solidFill>
            <a:prstDash val="solid"/>
          </a:ln>
        </p:spPr>
        <p:txBody>
          <a:bodyPr/>
          <a:p/>
        </p:txBody>
      </p:sp>
      <p:sp>
        <p:nvSpPr>
          <p:cNvPr id="37" name=""/>
          <p:cNvSpPr/>
          <p:nvPr/>
        </p:nvSpPr>
        <p:spPr>
          <a:xfrm>
            <a:off x="9906000" y="1778000"/>
            <a:ext cx="1651000" cy="762000"/>
          </a:xfrm>
          <a:prstGeom prst="rect">
            <a:avLst/>
          </a:prstGeom>
          <a:solidFill>
            <a:srgbClr val="CCE5FF"/>
          </a:solidFill>
          <a:ln w="12700">
            <a:solidFill>
              <a:srgbClr val="1A3C6E"/>
            </a:solidFill>
            <a:prstDash val="solid"/>
          </a:ln>
        </p:spPr>
        <p:txBody>
          <a:bodyPr/>
          <a:p/>
        </p:txBody>
      </p:sp>
      <p:sp>
        <p:nvSpPr>
          <p:cNvPr id="38" name=""/>
          <p:cNvSpPr/>
          <p:nvPr/>
        </p:nvSpPr>
        <p:spPr>
          <a:xfrm>
            <a:off x="825500" y="19050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1A3C6E"/>
                </a:solidFill>
                <a:latin typeface="微软雅黑"/>
                <a:ea typeface="微软雅黑"/>
              </a:rPr>
              <a:t>① E1
对象辨识</a:t>
            </a:r>
            <a:endParaRPr/>
          </a:p>
        </p:txBody>
      </p:sp>
      <p:sp>
        <p:nvSpPr>
          <p:cNvPr id="39" name=""/>
          <p:cNvSpPr/>
          <p:nvPr/>
        </p:nvSpPr>
        <p:spPr>
          <a:xfrm>
            <a:off x="3111500" y="19050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1A3C6E"/>
                </a:solidFill>
                <a:latin typeface="微软雅黑"/>
                <a:ea typeface="微软雅黑"/>
              </a:rPr>
              <a:t>② PSO
离线搜索</a:t>
            </a:r>
            <a:endParaRPr/>
          </a:p>
        </p:txBody>
      </p:sp>
      <p:sp>
        <p:nvSpPr>
          <p:cNvPr id="40" name=""/>
          <p:cNvSpPr/>
          <p:nvPr/>
        </p:nvSpPr>
        <p:spPr>
          <a:xfrm>
            <a:off x="5397500" y="19050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1A3C6E"/>
                </a:solidFill>
                <a:latin typeface="微软雅黑"/>
                <a:ea typeface="微软雅黑"/>
              </a:rPr>
              <a:t>③ E5
仿真消融</a:t>
            </a:r>
            <a:endParaRPr/>
          </a:p>
        </p:txBody>
      </p:sp>
      <p:sp>
        <p:nvSpPr>
          <p:cNvPr id="41" name=""/>
          <p:cNvSpPr/>
          <p:nvPr/>
        </p:nvSpPr>
        <p:spPr>
          <a:xfrm>
            <a:off x="7683500" y="19050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1A3C6E"/>
                </a:solidFill>
                <a:latin typeface="微软雅黑"/>
                <a:ea typeface="微软雅黑"/>
              </a:rPr>
              <a:t>④ 参数
冻结下载</a:t>
            </a:r>
            <a:endParaRPr/>
          </a:p>
        </p:txBody>
      </p:sp>
      <p:sp>
        <p:nvSpPr>
          <p:cNvPr id="42" name=""/>
          <p:cNvSpPr/>
          <p:nvPr/>
        </p:nvSpPr>
        <p:spPr>
          <a:xfrm>
            <a:off x="9969500" y="19050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003366"/>
                </a:solidFill>
                <a:latin typeface="微软雅黑"/>
                <a:ea typeface="微软雅黑"/>
              </a:rPr>
              <a:t>⑤ E6
试验台验证</a:t>
            </a:r>
            <a:endParaRPr/>
          </a:p>
        </p:txBody>
      </p:sp>
      <p:sp>
        <p:nvSpPr>
          <p:cNvPr id="43" name=""/>
          <p:cNvSpPr/>
          <p:nvPr/>
        </p:nvSpPr>
        <p:spPr>
          <a:xfrm>
            <a:off x="762000" y="2794000"/>
            <a:ext cx="1651000" cy="1397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555555"/>
                </a:solidFill>
                <a:latin typeface="微软雅黑"/>
                <a:ea typeface="微软雅黑"/>
              </a:rPr>
              <a:t>试验台实测
MIMO FOPDT
模型 (G, L, T)
3个工作点</a:t>
            </a:r>
            <a:endParaRPr/>
          </a:p>
        </p:txBody>
      </p:sp>
      <p:sp>
        <p:nvSpPr>
          <p:cNvPr id="44" name=""/>
          <p:cNvSpPr/>
          <p:nvPr/>
        </p:nvSpPr>
        <p:spPr>
          <a:xfrm>
            <a:off x="3048000" y="2794000"/>
            <a:ext cx="1651000" cy="1397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555555"/>
                </a:solidFill>
                <a:latin typeface="微软雅黑"/>
                <a:ea typeface="微软雅黑"/>
              </a:rPr>
              <a:t>上位机 Python
30粒子 100代
搜索 [λ_e, λ_p, β]
产出最优参数</a:t>
            </a:r>
            <a:endParaRPr/>
          </a:p>
        </p:txBody>
      </p:sp>
      <p:sp>
        <p:nvSpPr>
          <p:cNvPr id="45" name=""/>
          <p:cNvSpPr/>
          <p:nvPr/>
        </p:nvSpPr>
        <p:spPr>
          <a:xfrm>
            <a:off x="5334000" y="2794000"/>
            <a:ext cx="1651000" cy="1397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555555"/>
                </a:solidFill>
                <a:latin typeface="微软雅黑"/>
                <a:ea typeface="微软雅黑"/>
              </a:rPr>
              <a:t>C0-C5 全矩阵
24训练场景
100+测试场景
验证改善幅度</a:t>
            </a:r>
            <a:endParaRPr/>
          </a:p>
        </p:txBody>
      </p:sp>
      <p:sp>
        <p:nvSpPr>
          <p:cNvPr id="46" name=""/>
          <p:cNvSpPr/>
          <p:nvPr/>
        </p:nvSpPr>
        <p:spPr>
          <a:xfrm>
            <a:off x="7620000" y="2794000"/>
            <a:ext cx="1651000" cy="1397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555555"/>
                </a:solidFill>
                <a:latin typeface="微软雅黑"/>
                <a:ea typeface="微软雅黑"/>
              </a:rPr>
              <a:t>SHA256哈希
锁定 λ + β
写入 PLC DB1
IMC/PID转换</a:t>
            </a:r>
            <a:endParaRPr/>
          </a:p>
        </p:txBody>
      </p:sp>
      <p:sp>
        <p:nvSpPr>
          <p:cNvPr id="47" name=""/>
          <p:cNvSpPr/>
          <p:nvPr/>
        </p:nvSpPr>
        <p:spPr>
          <a:xfrm>
            <a:off x="9906000" y="2794000"/>
            <a:ext cx="1651000" cy="1397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555555"/>
                </a:solidFill>
                <a:latin typeface="微软雅黑"/>
                <a:ea typeface="微软雅黑"/>
              </a:rPr>
              <a:t>120次物理试验
EC精度
pH带内率
安全联锁验收</a:t>
            </a:r>
            <a:endParaRPr/>
          </a:p>
        </p:txBody>
      </p:sp>
      <p:sp>
        <p:nvSpPr>
          <p:cNvPr id="48" name=""/>
          <p:cNvSpPr/>
          <p:nvPr/>
        </p:nvSpPr>
        <p:spPr>
          <a:xfrm>
            <a:off x="762000" y="4445000"/>
            <a:ext cx="107950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CC7000"/>
                </a:solidFill>
                <a:latin typeface="微软雅黑"/>
                <a:ea typeface="微软雅黑"/>
              </a:rPr>
              <a:t>实现状态：✅ ① ② 已完成    ⬜ ③ ④ ⑤ 待实现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PSO 算法参数 (V3.2 §5.5)</a:t>
            </a:r>
            <a:endParaRPr/>
          </a:p>
        </p:txBody>
      </p:sp>
      <p:sp>
        <p:nvSpPr>
          <p:cNvPr id="51" name=""/>
          <p:cNvSpPr/>
          <p:nvPr/>
        </p:nvSpPr>
        <p:spPr>
          <a:xfrm>
            <a:off x="508000" y="1143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粒子群参数</a:t>
            </a:r>
            <a:endParaRPr/>
          </a:p>
        </p:txBody>
      </p:sp>
      <p:sp>
        <p:nvSpPr>
          <p:cNvPr id="52" name=""/>
          <p:cNvSpPr/>
          <p:nvPr/>
        </p:nvSpPr>
        <p:spPr>
          <a:xfrm>
            <a:off x="508000" y="1714500"/>
            <a:ext cx="5334000" cy="177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555555"/>
                </a:solidFill>
                <a:latin typeface="微软雅黑"/>
                <a:ea typeface="微软雅黑"/>
              </a:rPr>
              <a:t>▸ 粒子数：30
▸ 最大迭代：100 代
▸ 独立种子：20 个
▸ 惯性权重：0.9 → 0.4 线性衰减
▸ 学习因子：c1 = c2 = 2.0
▸ 早停：连续 20 代改善 &lt; 1e-4</a:t>
            </a:r>
            <a:endParaRPr/>
          </a:p>
        </p:txBody>
      </p:sp>
      <p:sp>
        <p:nvSpPr>
          <p:cNvPr id="53" name=""/>
          <p:cNvSpPr/>
          <p:nvPr/>
        </p:nvSpPr>
        <p:spPr>
          <a:xfrm>
            <a:off x="6350000" y="1143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搜索空间</a:t>
            </a:r>
            <a:endParaRPr/>
          </a:p>
        </p:txBody>
      </p:sp>
      <p:sp>
        <p:nvSpPr>
          <p:cNvPr id="54" name=""/>
          <p:cNvSpPr/>
          <p:nvPr/>
        </p:nvSpPr>
        <p:spPr>
          <a:xfrm>
            <a:off x="6350000" y="1714500"/>
            <a:ext cx="5334000" cy="177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555555"/>
                </a:solidFill>
                <a:latin typeface="微软雅黑"/>
                <a:ea typeface="微软雅黑"/>
              </a:rPr>
              <a:t>▸ λ_EC ∈ [max(L_EC, 30s), 600s]
▸ λ_pH ∈ [max(L_pH, 30s), 900s]
▸ β ∈ [0, 0.5]
▸ 3 维决策变量
▸ 边界 clamp + 速度归零
▸ β=0 时关闭解耦</a:t>
            </a:r>
            <a:endParaRPr/>
          </a:p>
        </p:txBody>
      </p:sp>
      <p:sp>
        <p:nvSpPr>
          <p:cNvPr id="55" name=""/>
          <p:cNvSpPr/>
          <p:nvPr/>
        </p:nvSpPr>
        <p:spPr>
          <a:xfrm>
            <a:off x="508000" y="3810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PSO 运行位置</a:t>
            </a:r>
            <a:endParaRPr/>
          </a:p>
        </p:txBody>
      </p:sp>
      <p:sp>
        <p:nvSpPr>
          <p:cNvPr id="56" name=""/>
          <p:cNvSpPr/>
          <p:nvPr/>
        </p:nvSpPr>
        <p:spPr>
          <a:xfrm>
            <a:off x="508000" y="4381500"/>
            <a:ext cx="5334000" cy="1270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555555"/>
                </a:solidFill>
                <a:latin typeface="微软雅黑"/>
                <a:ea typeface="微软雅黑"/>
              </a:rPr>
              <a:t>▸ 上位机 Python（不在 S7-1214C 运行）
▸ 使用 PIDControlledTwinEnv 仿真
▸ 完整 MixingTank+Pipe+Soil 物理模型
▸ medium 工作点训练，low/high 泛化测试</a:t>
            </a:r>
            <a:endParaRPr/>
          </a:p>
        </p:txBody>
      </p:sp>
      <p:sp>
        <p:nvSpPr>
          <p:cNvPr id="57" name=""/>
          <p:cNvSpPr/>
          <p:nvPr/>
        </p:nvSpPr>
        <p:spPr>
          <a:xfrm>
            <a:off x="6350000" y="3810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600">
                <a:solidFill>
                  <a:srgbClr val="1A3C6E"/>
                </a:solidFill>
                <a:latin typeface="微软雅黑"/>
                <a:ea typeface="微软雅黑"/>
              </a:rPr>
              <a:t>优化策略</a:t>
            </a:r>
            <a:endParaRPr/>
          </a:p>
        </p:txBody>
      </p:sp>
      <p:sp>
        <p:nvSpPr>
          <p:cNvPr id="58" name=""/>
          <p:cNvSpPr/>
          <p:nvPr/>
        </p:nvSpPr>
        <p:spPr>
          <a:xfrm>
            <a:off x="6350000" y="4381500"/>
            <a:ext cx="5334000" cy="1270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555555"/>
                </a:solidFill>
                <a:latin typeface="微软雅黑"/>
                <a:ea typeface="微软雅黑"/>
              </a:rPr>
              <a:t>▸ 12 训练场景（medium 工作点）
▸ 8 种扰动类型 (S0-S7)
▸ 多场景聚合 J 取平均
▸ 不可行解直接返回 inf
▸ 20种子中选 J 最低可行解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目标函数 J (V3.2 §5.6)</a:t>
            </a:r>
            <a:endParaRPr/>
          </a:p>
        </p:txBody>
      </p:sp>
      <p:sp>
        <p:nvSpPr>
          <p:cNvPr id="61" name=""/>
          <p:cNvSpPr/>
          <p:nvPr/>
        </p:nvSpPr>
        <p:spPr>
          <a:xfrm>
            <a:off x="508000" y="1016000"/>
            <a:ext cx="11176000" cy="1016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300">
                <a:solidFill>
                  <a:srgbClr val="333333"/>
                </a:solidFill>
                <a:latin typeface="微软雅黑"/>
                <a:ea typeface="微软雅黑"/>
              </a:rPr>
              <a:t>J = 0.45 × NEC_IAE  +  0.20 × NEC_overshoot  +  0.15 × pH_band_violation  +  0.10 × control_TV  +  0.10 × saturation  +  P
各项先除以 C0 (固定PI无解耦) 基线归一化，再加权求和。P 为硬约束惩罚。</a:t>
            </a:r>
            <a:endParaRPr/>
          </a:p>
        </p:txBody>
      </p:sp>
      <p:sp>
        <p:nvSpPr>
          <p:cNvPr id="62" name=""/>
          <p:cNvSpPr/>
          <p:nvPr/>
        </p:nvSpPr>
        <p:spPr>
          <a:xfrm>
            <a:off x="508000" y="2413000"/>
            <a:ext cx="3175000" cy="4445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1A3C6E"/>
                </a:solidFill>
                <a:latin typeface="微软雅黑"/>
                <a:ea typeface="微软雅黑"/>
              </a:rPr>
              <a:t>NEC_IAE (0.45)</a:t>
            </a:r>
            <a:endParaRPr/>
          </a:p>
        </p:txBody>
      </p:sp>
      <p:sp>
        <p:nvSpPr>
          <p:cNvPr id="63" name=""/>
          <p:cNvSpPr/>
          <p:nvPr/>
        </p:nvSpPr>
        <p:spPr>
          <a:xfrm>
            <a:off x="508000" y="2921000"/>
            <a:ext cx="3175000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555555"/>
                </a:solidFill>
                <a:latin typeface="微软雅黑"/>
                <a:ea typeface="微软雅黑"/>
              </a:rPr>
              <a:t>归一化 EC 绝对误差积分
sum(|ec_actual - ec_set|) / baseline</a:t>
            </a:r>
            <a:endParaRPr/>
          </a:p>
        </p:txBody>
      </p:sp>
      <p:sp>
        <p:nvSpPr>
          <p:cNvPr id="64" name=""/>
          <p:cNvSpPr/>
          <p:nvPr/>
        </p:nvSpPr>
        <p:spPr>
          <a:xfrm>
            <a:off x="3937000" y="2413000"/>
            <a:ext cx="3175000" cy="4445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1A3C6E"/>
                </a:solidFill>
                <a:latin typeface="微软雅黑"/>
                <a:ea typeface="微软雅黑"/>
              </a:rPr>
              <a:t>NEC_overshoot (0.20)</a:t>
            </a:r>
            <a:endParaRPr/>
          </a:p>
        </p:txBody>
      </p:sp>
      <p:sp>
        <p:nvSpPr>
          <p:cNvPr id="65" name=""/>
          <p:cNvSpPr/>
          <p:nvPr/>
        </p:nvSpPr>
        <p:spPr>
          <a:xfrm>
            <a:off x="3937000" y="2921000"/>
            <a:ext cx="3175000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555555"/>
                </a:solidFill>
                <a:latin typeface="微软雅黑"/>
                <a:ea typeface="微软雅黑"/>
              </a:rPr>
              <a:t>归一化 EC 超调
max(ec_actual - ec_set, 0) / baseline</a:t>
            </a:r>
            <a:endParaRPr/>
          </a:p>
        </p:txBody>
      </p:sp>
      <p:sp>
        <p:nvSpPr>
          <p:cNvPr id="66" name=""/>
          <p:cNvSpPr/>
          <p:nvPr/>
        </p:nvSpPr>
        <p:spPr>
          <a:xfrm>
            <a:off x="7366000" y="2413000"/>
            <a:ext cx="3175000" cy="4445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1A3C6E"/>
                </a:solidFill>
                <a:latin typeface="微软雅黑"/>
                <a:ea typeface="微软雅黑"/>
              </a:rPr>
              <a:t>pH_band_violation (0.15)</a:t>
            </a:r>
            <a:endParaRPr/>
          </a:p>
        </p:txBody>
      </p:sp>
      <p:sp>
        <p:nvSpPr>
          <p:cNvPr id="67" name=""/>
          <p:cNvSpPr/>
          <p:nvPr/>
        </p:nvSpPr>
        <p:spPr>
          <a:xfrm>
            <a:off x="7366000" y="2921000"/>
            <a:ext cx="3175000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555555"/>
                </a:solidFill>
                <a:latin typeface="微软雅黑"/>
                <a:ea typeface="微软雅黑"/>
              </a:rPr>
              <a:t>pH 带外积分
超出 [5.8, 6.5] 的时间/幅度积分</a:t>
            </a:r>
            <a:endParaRPr/>
          </a:p>
        </p:txBody>
      </p:sp>
      <p:sp>
        <p:nvSpPr>
          <p:cNvPr id="68" name=""/>
          <p:cNvSpPr/>
          <p:nvPr/>
        </p:nvSpPr>
        <p:spPr>
          <a:xfrm>
            <a:off x="508000" y="3937000"/>
            <a:ext cx="3175000" cy="4445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1A3C6E"/>
                </a:solidFill>
                <a:latin typeface="微软雅黑"/>
                <a:ea typeface="微软雅黑"/>
              </a:rPr>
              <a:t>control_TV (0.10)</a:t>
            </a:r>
            <a:endParaRPr/>
          </a:p>
        </p:txBody>
      </p:sp>
      <p:sp>
        <p:nvSpPr>
          <p:cNvPr id="69" name=""/>
          <p:cNvSpPr/>
          <p:nvPr/>
        </p:nvSpPr>
        <p:spPr>
          <a:xfrm>
            <a:off x="508000" y="4445000"/>
            <a:ext cx="3175000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555555"/>
                </a:solidFill>
                <a:latin typeface="微软雅黑"/>
                <a:ea typeface="微软雅黑"/>
              </a:rPr>
              <a:t>控制总变差
sum(|Δq_f| + |Δq_a|) / baseline</a:t>
            </a:r>
            <a:endParaRPr/>
          </a:p>
        </p:txBody>
      </p:sp>
      <p:sp>
        <p:nvSpPr>
          <p:cNvPr id="70" name=""/>
          <p:cNvSpPr/>
          <p:nvPr/>
        </p:nvSpPr>
        <p:spPr>
          <a:xfrm>
            <a:off x="3937000" y="3937000"/>
            <a:ext cx="3175000" cy="4445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1A3C6E"/>
                </a:solidFill>
                <a:latin typeface="微软雅黑"/>
                <a:ea typeface="微软雅黑"/>
              </a:rPr>
              <a:t>saturation (0.10)</a:t>
            </a:r>
            <a:endParaRPr/>
          </a:p>
        </p:txBody>
      </p:sp>
      <p:sp>
        <p:nvSpPr>
          <p:cNvPr id="71" name=""/>
          <p:cNvSpPr/>
          <p:nvPr/>
        </p:nvSpPr>
        <p:spPr>
          <a:xfrm>
            <a:off x="3937000" y="4445000"/>
            <a:ext cx="3175000" cy="635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555555"/>
                </a:solidFill>
                <a:latin typeface="微软雅黑"/>
                <a:ea typeface="微软雅黑"/>
              </a:rPr>
              <a:t>泵饱和时间比
泵命令触及上下限的时间占比</a:t>
            </a:r>
            <a:endParaRPr/>
          </a:p>
        </p:txBody>
      </p:sp>
      <p:sp>
        <p:nvSpPr>
          <p:cNvPr id="72" name=""/>
          <p:cNvSpPr/>
          <p:nvPr/>
        </p:nvSpPr>
        <p:spPr>
          <a:xfrm>
            <a:off x="7366000" y="3937000"/>
            <a:ext cx="3175000" cy="444500"/>
          </a:xfrm>
          <a:prstGeom prst="rect">
            <a:avLst/>
          </a:prstGeom>
          <a:solidFill>
            <a:srgbClr val="FEE8E8"/>
          </a:solidFill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CC3300"/>
                </a:solidFill>
                <a:latin typeface="微软雅黑"/>
                <a:ea typeface="微软雅黑"/>
              </a:rPr>
              <a:t>硬约束惩罚 P</a:t>
            </a:r>
            <a:endParaRPr/>
          </a:p>
        </p:txBody>
      </p:sp>
      <p:sp>
        <p:nvSpPr>
          <p:cNvPr id="73" name=""/>
          <p:cNvSpPr/>
          <p:nvPr/>
        </p:nvSpPr>
        <p:spPr>
          <a:xfrm>
            <a:off x="7366000" y="4445000"/>
            <a:ext cx="3175000" cy="1016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900">
                <a:solidFill>
                  <a:srgbClr val="555555"/>
                </a:solidFill>
                <a:latin typeface="微软雅黑"/>
                <a:ea typeface="微软雅黑"/>
              </a:rPr>
              <a:t>不可行条件：
▸ pH &lt; 5.5（任意时刻）
▸ 无水时加肥/加酸
▸ 泵命令为负未被安全投影
→ 直接返回 J = ∞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实现文件与依赖</a:t>
            </a:r>
            <a:endParaRPr/>
          </a:p>
        </p:txBody>
      </p:sp>
      <p:sp>
        <p:nvSpPr>
          <p:cNvPr id="76" name=""/>
          <p:cNvSpPr/>
          <p:nvPr/>
        </p:nvSpPr>
        <p:spPr>
          <a:xfrm>
            <a:off x="508000" y="1016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CC7000"/>
                </a:solidFill>
                <a:latin typeface="微软雅黑"/>
                <a:ea typeface="微软雅黑"/>
              </a:rPr>
              <a:t>新建 4 个文件（不改动任何现有 .py 文件）</a:t>
            </a:r>
            <a:endParaRPr/>
          </a:p>
        </p:txBody>
      </p:sp>
      <p:sp>
        <p:nvSpPr>
          <p:cNvPr id="77" name=""/>
          <p:cNvSpPr/>
          <p:nvPr/>
        </p:nvSpPr>
        <p:spPr>
          <a:xfrm>
            <a:off x="508000" y="1524000"/>
            <a:ext cx="3429000" cy="50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1A3C6E"/>
                </a:solidFill>
                <a:latin typeface="Consolas"/>
                <a:ea typeface="Consolas"/>
              </a:rPr>
              <a:t>scripts/pso_core.py</a:t>
            </a:r>
            <a:endParaRPr/>
          </a:p>
        </p:txBody>
      </p:sp>
      <p:sp>
        <p:nvSpPr>
          <p:cNvPr id="78" name=""/>
          <p:cNvSpPr/>
          <p:nvPr/>
        </p:nvSpPr>
        <p:spPr>
          <a:xfrm>
            <a:off x="508000" y="2095500"/>
            <a:ext cx="34290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555555"/>
                </a:solidFill>
                <a:latin typeface="微软雅黑"/>
                <a:ea typeface="微软雅黑"/>
              </a:rPr>
              <a:t>通用 PSO 算法（170行）
30粒子 惯性衰减 早停 边界Clamp</a:t>
            </a:r>
            <a:endParaRPr/>
          </a:p>
        </p:txBody>
      </p:sp>
      <p:sp>
        <p:nvSpPr>
          <p:cNvPr id="79" name=""/>
          <p:cNvSpPr/>
          <p:nvPr/>
        </p:nvSpPr>
        <p:spPr>
          <a:xfrm>
            <a:off x="4191000" y="1524000"/>
            <a:ext cx="3429000" cy="50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1A3C6E"/>
                </a:solidFill>
                <a:latin typeface="Consolas"/>
                <a:ea typeface="Consolas"/>
              </a:rPr>
              <a:t>scripts/pso_env.py</a:t>
            </a:r>
            <a:endParaRPr/>
          </a:p>
        </p:txBody>
      </p:sp>
      <p:sp>
        <p:nvSpPr>
          <p:cNvPr id="80" name=""/>
          <p:cNvSpPr/>
          <p:nvPr/>
        </p:nvSpPr>
        <p:spPr>
          <a:xfrm>
            <a:off x="4191000" y="2095500"/>
            <a:ext cx="34290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555555"/>
                </a:solidFill>
                <a:latin typeface="微软雅黑"/>
                <a:ea typeface="微软雅黑"/>
              </a:rPr>
              <a:t>PIDControlledTwinEnv（256行）
继承 DigitalTwinEnv 覆写控制层</a:t>
            </a:r>
            <a:endParaRPr/>
          </a:p>
        </p:txBody>
      </p:sp>
      <p:sp>
        <p:nvSpPr>
          <p:cNvPr id="81" name=""/>
          <p:cNvSpPr/>
          <p:nvPr/>
        </p:nvSpPr>
        <p:spPr>
          <a:xfrm>
            <a:off x="7874000" y="1524000"/>
            <a:ext cx="3429000" cy="508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1A3C6E"/>
                </a:solidFill>
                <a:latin typeface="Consolas"/>
                <a:ea typeface="Consolas"/>
              </a:rPr>
              <a:t>scripts/pso_objective.py</a:t>
            </a:r>
            <a:endParaRPr/>
          </a:p>
        </p:txBody>
      </p:sp>
      <p:sp>
        <p:nvSpPr>
          <p:cNvPr id="82" name=""/>
          <p:cNvSpPr/>
          <p:nvPr/>
        </p:nvSpPr>
        <p:spPr>
          <a:xfrm>
            <a:off x="7874000" y="2095500"/>
            <a:ext cx="34290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555555"/>
                </a:solidFill>
                <a:latin typeface="微软雅黑"/>
                <a:ea typeface="微软雅黑"/>
              </a:rPr>
              <a:t>目标函数 J + 场景生成（480行）
13训练场景 8种扰动 S0-S7</a:t>
            </a:r>
            <a:endParaRPr/>
          </a:p>
        </p:txBody>
      </p:sp>
      <p:sp>
        <p:nvSpPr>
          <p:cNvPr id="83" name=""/>
          <p:cNvSpPr/>
          <p:nvPr/>
        </p:nvSpPr>
        <p:spPr>
          <a:xfrm>
            <a:off x="4191000" y="3048000"/>
            <a:ext cx="3429000" cy="508000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1A3C6E"/>
                </a:solidFill>
                <a:latin typeface="Consolas"/>
                <a:ea typeface="Consolas"/>
              </a:rPr>
              <a:t>scripts/pso_optimizer.py</a:t>
            </a:r>
            <a:endParaRPr/>
          </a:p>
        </p:txBody>
      </p:sp>
      <p:sp>
        <p:nvSpPr>
          <p:cNvPr id="84" name=""/>
          <p:cNvSpPr/>
          <p:nvPr/>
        </p:nvSpPr>
        <p:spPr>
          <a:xfrm>
            <a:off x="4191000" y="3619500"/>
            <a:ext cx="3429000" cy="762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555555"/>
                </a:solidFill>
                <a:latin typeface="微软雅黑"/>
                <a:ea typeface="微软雅黑"/>
              </a:rPr>
              <a:t>PSO 主入口（215行）
20种子 参数锁定 CSV/YAML输出</a:t>
            </a:r>
            <a:endParaRPr/>
          </a:p>
        </p:txBody>
      </p:sp>
      <p:sp>
        <p:nvSpPr>
          <p:cNvPr id="85" name=""/>
          <p:cNvSpPr/>
          <p:nvPr/>
        </p:nvSpPr>
        <p:spPr>
          <a:xfrm>
            <a:off x="508000" y="4699000"/>
            <a:ext cx="11176000" cy="1270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888888"/>
                </a:solidFill>
                <a:latin typeface="微软雅黑"/>
                <a:ea typeface="微软雅黑"/>
              </a:rPr>
              <a:t>复用组件（不改动）：DigitalTwinEnv, SmithPIController, tune_imc_pi(), FOPDTModel,
PHPulseBandController, load_gain_schedule(), config/gain_schedule.yaml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Quick 模式验证结果</a:t>
            </a:r>
            <a:endParaRPr/>
          </a:p>
        </p:txBody>
      </p:sp>
      <p:sp>
        <p:nvSpPr>
          <p:cNvPr id="88" name=""/>
          <p:cNvSpPr/>
          <p:nvPr/>
        </p:nvSpPr>
        <p:spPr>
          <a:xfrm>
            <a:off x="508000" y="1016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400">
                <a:solidFill>
                  <a:srgbClr val="CC7000"/>
                </a:solidFill>
                <a:latin typeface="微软雅黑"/>
                <a:ea typeface="微软雅黑"/>
              </a:rPr>
              <a:t>3 种子 × 5 粒子 × 10 代，13 训练场景，全部可行 (J ≈ 0.60)</a:t>
            </a:r>
            <a:endParaRPr/>
          </a:p>
        </p:txBody>
      </p:sp>
      <p:sp>
        <p:nvSpPr>
          <p:cNvPr id="89" name=""/>
          <p:cNvSpPr/>
          <p:nvPr/>
        </p:nvSpPr>
        <p:spPr>
          <a:xfrm>
            <a:off x="508000" y="1651000"/>
            <a:ext cx="11176000" cy="2286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333333"/>
                </a:solidFill>
                <a:latin typeface="Consolas"/>
                <a:ea typeface="Consolas"/>
              </a:rPr>
              <a:t>种子 │ λ_EC (s) │ λ_pH (s) │   β   │   J    │ Kp_EC  │ Ki_EC   │ Kp_pH  │ Ki_pH
───────────────────────────────────────────────────────────────────────────
  0  │  449.3   │  377.9   │ 0.021 │ 0.5995 │ 1.331  │ 0.00285 │ -1.179 │ -0.00252
  1  │  534.4   │  346.8   │ 0.257 │ 0.5995 │ 1.174  │ 0.00251 │ -1.248 │ -0.00267
  2  │  324.4   │  758.5   │ 0.276 │ 0.5995 │ 1.658  │ 0.00355 │ -0.703 │ -0.00150</a:t>
            </a:r>
            <a:endParaRPr/>
          </a:p>
        </p:txBody>
      </p:sp>
      <p:sp>
        <p:nvSpPr>
          <p:cNvPr id="90" name=""/>
          <p:cNvSpPr/>
          <p:nvPr/>
        </p:nvSpPr>
        <p:spPr>
          <a:xfrm>
            <a:off x="508000" y="4318000"/>
            <a:ext cx="5334000" cy="1270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555555"/>
                </a:solidFill>
                <a:latin typeface="微软雅黑"/>
                <a:ea typeface="微软雅黑"/>
              </a:rPr>
              <a:t>结论：
▸ 3/3 种子 100% 可行率
▸ 不同 λ 收敛到相同 J = 0.60
▸ 符合 IMC 理论：存在最优"区间"
▸ 解耦权重 β 有多个有效选择 (0.02~0.28)
▸ 早停生效：6-9 代即收敛</a:t>
            </a:r>
            <a:endParaRPr/>
          </a:p>
        </p:txBody>
      </p:sp>
      <p:sp>
        <p:nvSpPr>
          <p:cNvPr id="91" name=""/>
          <p:cNvSpPr/>
          <p:nvPr/>
        </p:nvSpPr>
        <p:spPr>
          <a:xfrm>
            <a:off x="6350000" y="4318000"/>
            <a:ext cx="5334000" cy="1270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100">
                <a:solidFill>
                  <a:srgbClr val="555555"/>
                </a:solidFill>
                <a:latin typeface="微软雅黑"/>
                <a:ea typeface="微软雅黑"/>
              </a:rPr>
              <a:t>产出文件：
▸ pso_runs.csv
▸ convergence_seed_*.csv (每代收敛)
▸ locked_controller.yaml
▸ locked_controller_meta.json
输出目录：results/optimization/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>
            <a:off x="508000" y="3175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2600">
                <a:solidFill>
                  <a:srgbClr val="1A3C6E"/>
                </a:solidFill>
                <a:latin typeface="微软雅黑"/>
                <a:ea typeface="微软雅黑"/>
              </a:rPr>
              <a:t>下一步计划</a:t>
            </a:r>
            <a:endParaRPr/>
          </a:p>
        </p:txBody>
      </p:sp>
      <p:sp>
        <p:nvSpPr>
          <p:cNvPr id="94" name=""/>
          <p:cNvSpPr/>
          <p:nvPr/>
        </p:nvSpPr>
        <p:spPr>
          <a:xfrm>
            <a:off x="508000" y="1143000"/>
            <a:ext cx="3556000" cy="1524000"/>
          </a:xfrm>
          <a:prstGeom prst="rect">
            <a:avLst/>
          </a:prstGeom>
          <a:solidFill>
            <a:srgbClr val="E8FEF0"/>
          </a:solidFill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007A3D"/>
                </a:solidFill>
                <a:latin typeface="微软雅黑"/>
                <a:ea typeface="微软雅黑"/>
              </a:rPr>
              <a:t>✅ 已完成
▸ 水肥混配试验设计 V3.2
▸ NPK 三泵 → 单泵修正
▸ PSO 离线整定实现
▸ Quick 验证通过
▸ locked_controller.yaml</a:t>
            </a:r>
            <a:endParaRPr/>
          </a:p>
        </p:txBody>
      </p:sp>
      <p:sp>
        <p:nvSpPr>
          <p:cNvPr id="95" name=""/>
          <p:cNvSpPr/>
          <p:nvPr/>
        </p:nvSpPr>
        <p:spPr>
          <a:xfrm>
            <a:off x="4318000" y="1143000"/>
            <a:ext cx="3556000" cy="1524000"/>
          </a:xfrm>
          <a:prstGeom prst="rect">
            <a:avLst/>
          </a:prstGeom>
          <a:solidFill>
            <a:srgbClr val="FEF3E8"/>
          </a:solidFill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CC7000"/>
                </a:solidFill>
                <a:latin typeface="微软雅黑"/>
                <a:ea typeface="微软雅黑"/>
              </a:rPr>
              <a:t>⬜ 待实现：PSO 完整运行
▸ python pso_optimizer.py
▸ 20种子 × 30粒子 × 100代
▸ 预计 1-2 小时
▸ 产出正式锁定参数</a:t>
            </a:r>
            <a:endParaRPr/>
          </a:p>
        </p:txBody>
      </p:sp>
      <p:sp>
        <p:nvSpPr>
          <p:cNvPr id="96" name=""/>
          <p:cNvSpPr/>
          <p:nvPr/>
        </p:nvSpPr>
        <p:spPr>
          <a:xfrm>
            <a:off x="8128000" y="1143000"/>
            <a:ext cx="3048000" cy="152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888888"/>
                </a:solidFill>
                <a:latin typeface="微软雅黑"/>
                <a:ea typeface="微软雅黑"/>
              </a:rPr>
              <a:t>⬜ 待实现：E5 仿真消融
▸ C0-C5 全矩阵
▸ 100+ 测试场景
▸ 验证 PSO 改善幅度
▸ 效应量 + 95% CI</a:t>
            </a:r>
            <a:endParaRPr/>
          </a:p>
        </p:txBody>
      </p:sp>
      <p:sp>
        <p:nvSpPr>
          <p:cNvPr id="97" name=""/>
          <p:cNvSpPr/>
          <p:nvPr/>
        </p:nvSpPr>
        <p:spPr>
          <a:xfrm>
            <a:off x="508000" y="3048000"/>
            <a:ext cx="3556000" cy="152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888888"/>
                </a:solidFill>
                <a:latin typeface="微软雅黑"/>
                <a:ea typeface="微软雅黑"/>
              </a:rPr>
              <a:t>⬜ 待实现：PLC 下载
▸ 写入 DB1 IMC 地址
▸ λ_EC → DBD568
▸ λ_pH → DBD572
▸ β → DBD480
▸ 联锁验证</a:t>
            </a:r>
            <a:endParaRPr/>
          </a:p>
        </p:txBody>
      </p:sp>
      <p:sp>
        <p:nvSpPr>
          <p:cNvPr id="98" name=""/>
          <p:cNvSpPr/>
          <p:nvPr/>
        </p:nvSpPr>
        <p:spPr>
          <a:xfrm>
            <a:off x="4318000" y="3048000"/>
            <a:ext cx="3556000" cy="152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888888"/>
                </a:solidFill>
                <a:latin typeface="微软雅黑"/>
                <a:ea typeface="微软雅黑"/>
              </a:rPr>
              <a:t>⬜ 待实现：E6 试验台验证
▸ 120 次物理闭环试验
▸ EC 精度 ≤0.03 dS/m
▸ pH 带内率 ≥95%
▸ 安全事件 = 0</a:t>
            </a:r>
            <a:endParaRPr/>
          </a:p>
        </p:txBody>
      </p:sp>
      <p:sp>
        <p:nvSpPr>
          <p:cNvPr id="99" name=""/>
          <p:cNvSpPr/>
          <p:nvPr/>
        </p:nvSpPr>
        <p:spPr>
          <a:xfrm>
            <a:off x="8128000" y="3048000"/>
            <a:ext cx="3048000" cy="152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200">
                <a:solidFill>
                  <a:srgbClr val="888888"/>
                </a:solidFill>
                <a:latin typeface="微软雅黑"/>
                <a:ea typeface="微软雅黑"/>
              </a:rPr>
              <a:t>⬜ 待实现：论文写作
▸ E7 统计与复现
▸ 图表 + 源数据
▸ 投稿 (IJDC/AEA)
▸ 预计 4-6 周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2026-07-27T23:20:00Z</dcterms:created>
  <dcterms:modified xsi:type="dcterms:W3CDTF">2026-07-27T23:20:00Z</dcterms:modified>
</cp:coreProperties>
</file>