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presProps" Target="presProps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CN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5" Type="http://schemas.openxmlformats.org/officeDocument/2006/relationships/slideLayout" Target="../slideLayouts/slideLayout6.xml" /><Relationship Id="rId8" Type="http://schemas.openxmlformats.org/officeDocument/2006/relationships/slideLayout" Target="../slideLayouts/slideLayout9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35000" y="20320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600">
                <a:solidFill>
                  <a:srgbClr val="1A3C6E"/>
                </a:solidFill>
                <a:latin typeface="微软雅黑"/>
                <a:ea typeface="微软雅黑"/>
              </a:rPr>
              <a:t>水肥混配系统
试验方案与算法创新</a:t>
            </a:r>
            <a:endParaRPr/>
          </a:p>
        </p:txBody>
      </p:sp>
      <p:sp>
        <p:nvSpPr>
          <p:cNvPr id="3" name=""/>
          <p:cNvSpPr/>
          <p:nvPr/>
        </p:nvSpPr>
        <p:spPr>
          <a:xfrm>
            <a:off x="635000" y="3683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555555"/>
                </a:solidFill>
                <a:latin typeface="微软雅黑"/>
                <a:ea typeface="微软雅黑"/>
              </a:rPr>
              <a:t>EC-pH 解耦 · 内模控制 · PSO 离线整定 · SAC 强化学习</a:t>
            </a:r>
            <a:endParaRPr/>
          </a:p>
        </p:txBody>
      </p:sp>
      <p:sp>
        <p:nvSpPr>
          <p:cNvPr id="4" name=""/>
          <p:cNvSpPr/>
          <p:nvPr/>
        </p:nvSpPr>
        <p:spPr>
          <a:xfrm>
            <a:off x="635000" y="5080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888888"/>
                </a:solidFill>
                <a:latin typeface="微软雅黑"/>
                <a:ea typeface="微软雅黑"/>
              </a:rPr>
              <a:t>V3.2 试验设计 · 2026-07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项目定位：两篇论文</a:t>
            </a:r>
            <a:endParaRPr/>
          </a:p>
        </p:txBody>
      </p:sp>
      <p:sp>
        <p:nvSpPr>
          <p:cNvPr id="43" name=""/>
          <p:cNvSpPr/>
          <p:nvPr/>
        </p:nvSpPr>
        <p:spPr>
          <a:xfrm>
            <a:off x="508000" y="10795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CC7000"/>
                </a:solidFill>
                <a:latin typeface="微软雅黑"/>
                <a:ea typeface="微软雅黑"/>
              </a:rPr>
              <a:t>第一篇：混配过程控制</a:t>
            </a:r>
            <a:endParaRPr/>
          </a:p>
        </p:txBody>
      </p:sp>
      <p:sp>
        <p:nvSpPr>
          <p:cNvPr id="44" name=""/>
          <p:cNvSpPr/>
          <p:nvPr/>
        </p:nvSpPr>
        <p:spPr>
          <a:xfrm>
            <a:off x="508000" y="17145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问题：水肥如何准确、安全地配出来
创新点：
▸ 约束部分解耦（β 权重）
▸ IMC-PI/Smith 大滞后补偿
▸ PSO 离线整定 IMC 参数
▸ C0-C5 消融验证
验证：仿真 + 物理试验台 120 次</a:t>
            </a:r>
            <a:endParaRPr/>
          </a:p>
        </p:txBody>
      </p:sp>
      <p:sp>
        <p:nvSpPr>
          <p:cNvPr id="45" name=""/>
          <p:cNvSpPr/>
          <p:nvPr/>
        </p:nvSpPr>
        <p:spPr>
          <a:xfrm>
            <a:off x="6350000" y="10795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第二篇：季节水肥优化</a:t>
            </a:r>
            <a:endParaRPr/>
          </a:p>
        </p:txBody>
      </p:sp>
      <p:sp>
        <p:nvSpPr>
          <p:cNvPr id="46" name=""/>
          <p:cNvSpPr/>
          <p:nvPr/>
        </p:nvSpPr>
        <p:spPr>
          <a:xfrm>
            <a:off x="6350000" y="17145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问题：田间每个生育阶段灌多少、施多少
创新点：
▸ SAC 残差动作策略
▸ 域随机化增强鲁棒性
▸ 全生育期 8 次灌溉事件优化
▸ T1/T2 灌溉制度对比
验证：数字孪生全季节仿真</a:t>
            </a:r>
            <a:endParaRPr/>
          </a:p>
        </p:txBody>
      </p:sp>
      <p:sp>
        <p:nvSpPr>
          <p:cNvPr id="47" name=""/>
          <p:cNvSpPr/>
          <p:nvPr/>
        </p:nvSpPr>
        <p:spPr>
          <a:xfrm>
            <a:off x="508000" y="4064000"/>
            <a:ext cx="11176000" cy="101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3C6E"/>
                </a:solidFill>
                <a:latin typeface="微软雅黑"/>
                <a:ea typeface="微软雅黑"/>
              </a:rPr>
              <a:t>证据链：试验台搭建与标定 → 对象辨识 → 解耦设计 → 内模控制 → PSO 离线整定 → 仿真消融 → 参数冻结 → 物理试验台验证 → 形成论文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试验台系统设计 (V3.2 §2)</a:t>
            </a:r>
            <a:endParaRPr/>
          </a:p>
        </p:txBody>
      </p:sp>
      <p:sp>
        <p:nvSpPr>
          <p:cNvPr id="50" name=""/>
          <p:cNvSpPr/>
          <p:nvPr/>
        </p:nvSpPr>
        <p:spPr>
          <a:xfrm>
            <a:off x="508000" y="1016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7000"/>
                </a:solidFill>
                <a:latin typeface="微软雅黑"/>
                <a:ea typeface="微软雅黑"/>
              </a:rPr>
              <a:t>3 泵架构：主水泵 + NPK 混合母液泵 + 酸泵</a:t>
            </a:r>
            <a:endParaRPr/>
          </a:p>
        </p:txBody>
      </p:sp>
      <p:sp>
        <p:nvSpPr>
          <p:cNvPr id="51" name=""/>
          <p:cNvSpPr/>
          <p:nvPr/>
        </p:nvSpPr>
        <p:spPr>
          <a:xfrm>
            <a:off x="508000" y="1651000"/>
            <a:ext cx="11176000" cy="2540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3333"/>
                </a:solidFill>
                <a:latin typeface="Consolas"/>
                <a:ea typeface="Consolas"/>
              </a:rPr>
              <a:t>子系统        │ 组成                                    │ 设计要求
─────────────┼────────────────────────────────────────┼──────────────────
主水路        │ 储水箱、主水泵、变频、流量计、压力传感器  │ 可稳定设定 ±10% 扰动
NPK混合母液路 │ N/P/K 母液箱（按配方预混）、计量泵、止回阀 │ 单泵注入，可独立标定
酸路          │ 低浓度酸液箱、耐腐蚀计量泵、止回与冲洗    │ 只能降 pH，低 pH 禁加酸
混合单元      │ 混合罐/静态混合器、循环/旁路、出口取样口  │ 有效体积和停留时间可测
在线测量      │ EC、pH、温度、总流量、压力                │ EC 不确定度 ≤0.02 dS/m
控制          │ S7-1214C、KTP900 Basic、上位机            │ PLC 拥有最终泵命令
安全          │ 硬急停、调试钥匙、驱动 STO、泄漏溢流      │ 不能用软件急停替代物理回路</a:t>
            </a:r>
            <a:endParaRPr/>
          </a:p>
        </p:txBody>
      </p:sp>
      <p:sp>
        <p:nvSpPr>
          <p:cNvPr id="52" name=""/>
          <p:cNvSpPr/>
          <p:nvPr/>
        </p:nvSpPr>
        <p:spPr>
          <a:xfrm>
            <a:off x="508000" y="4445000"/>
            <a:ext cx="11176000" cy="762000"/>
          </a:xfrm>
          <a:prstGeom prst="rect">
            <a:avLst/>
          </a:prstGeom>
          <a:solidFill>
            <a:srgbClr val="FEF3E8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CC7000"/>
                </a:solidFill>
                <a:latin typeface="微软雅黑"/>
                <a:ea typeface="微软雅黑"/>
              </a:rPr>
              <a:t>关键修正 (V3.1→V3.2)：N/P/K 三种母液预先按配方混合为统一母液，由单一泵注入。
硬件从 5 泵简化为 3 泵，2×2 控制结构不受影响。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2×2 控制对象与 pH 区间控制</a:t>
            </a:r>
            <a:endParaRPr/>
          </a:p>
        </p:txBody>
      </p:sp>
      <p:sp>
        <p:nvSpPr>
          <p:cNvPr id="55" name=""/>
          <p:cNvSpPr/>
          <p:nvPr/>
        </p:nvSpPr>
        <p:spPr>
          <a:xfrm>
            <a:off x="508000" y="10795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为什么是 2×2 而非 4×4</a:t>
            </a:r>
            <a:endParaRPr/>
          </a:p>
        </p:txBody>
      </p:sp>
      <p:sp>
        <p:nvSpPr>
          <p:cNvPr id="56" name=""/>
          <p:cNvSpPr/>
          <p:nvPr/>
        </p:nvSpPr>
        <p:spPr>
          <a:xfrm>
            <a:off x="508000" y="1651000"/>
            <a:ext cx="5334000" cy="177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输入 u = [q_f, q_a]^T
  q_f = NPK 混合母液泵流量
  q_a = 酸液泵流量
输出 y = [EC, pH]^T
N:P:K 配比由预混配方决定
不在控制回路中分配</a:t>
            </a:r>
            <a:endParaRPr/>
          </a:p>
        </p:txBody>
      </p:sp>
      <p:sp>
        <p:nvSpPr>
          <p:cNvPr id="57" name=""/>
          <p:cNvSpPr/>
          <p:nvPr/>
        </p:nvSpPr>
        <p:spPr>
          <a:xfrm>
            <a:off x="6350000" y="10795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pH 区间控制定义</a:t>
            </a:r>
            <a:endParaRPr/>
          </a:p>
        </p:txBody>
      </p:sp>
      <p:sp>
        <p:nvSpPr>
          <p:cNvPr id="58" name=""/>
          <p:cNvSpPr/>
          <p:nvPr/>
        </p:nvSpPr>
        <p:spPr>
          <a:xfrm>
            <a:off x="6350000" y="1651000"/>
            <a:ext cx="5334000" cy="177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EC = 精确跟踪目标
pH = 区间约束目标
正常区间：5.8 - 6.5
名义目标：6.2
硬安全下限：5.5
pH ≤ 5.8 → 酸泵停止
pH &lt; 5.5 → 故障，人工确认</a:t>
            </a:r>
            <a:endParaRPr/>
          </a:p>
        </p:txBody>
      </p:sp>
      <p:sp>
        <p:nvSpPr>
          <p:cNvPr id="59" name=""/>
          <p:cNvSpPr/>
          <p:nvPr/>
        </p:nvSpPr>
        <p:spPr>
          <a:xfrm>
            <a:off x="508000" y="36830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微软雅黑"/>
                <a:ea typeface="微软雅黑"/>
              </a:rPr>
              <a:t>局部稳态增益矩阵 G0</a:t>
            </a:r>
            <a:endParaRPr/>
          </a:p>
        </p:txBody>
      </p:sp>
      <p:sp>
        <p:nvSpPr>
          <p:cNvPr id="60" name=""/>
          <p:cNvSpPr/>
          <p:nvPr/>
        </p:nvSpPr>
        <p:spPr>
          <a:xfrm>
            <a:off x="508000" y="4254500"/>
            <a:ext cx="11176000" cy="101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G0 = | G_EC_F   G_EC_A |     G_EC_F &gt; 0  (肥→EC正)
     | G_pH_F   G_pH_A |     G_pH_A &lt; 0  (酸→pH降)
条件数 ≤ 10，行列式绝对值 ≥ 预登记最小值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创新点1：约束部分解耦 (V3.2 §4)</a:t>
            </a:r>
            <a:endParaRPr/>
          </a:p>
        </p:txBody>
      </p:sp>
      <p:sp>
        <p:nvSpPr>
          <p:cNvPr id="63" name=""/>
          <p:cNvSpPr/>
          <p:nvPr/>
        </p:nvSpPr>
        <p:spPr>
          <a:xfrm>
            <a:off x="508000" y="10160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7000"/>
                </a:solidFill>
                <a:latin typeface="微软雅黑"/>
                <a:ea typeface="微软雅黑"/>
              </a:rPr>
              <a:t>不追求数学完全逆解，采用 β 权重的受约束部分解耦</a:t>
            </a:r>
            <a:endParaRPr/>
          </a:p>
        </p:txBody>
      </p:sp>
      <p:sp>
        <p:nvSpPr>
          <p:cNvPr id="64" name=""/>
          <p:cNvSpPr/>
          <p:nvPr/>
        </p:nvSpPr>
        <p:spPr>
          <a:xfrm>
            <a:off x="508000" y="1778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解耦公式</a:t>
            </a:r>
            <a:endParaRPr/>
          </a:p>
        </p:txBody>
      </p:sp>
      <p:sp>
        <p:nvSpPr>
          <p:cNvPr id="65" name=""/>
          <p:cNvSpPr/>
          <p:nvPr/>
        </p:nvSpPr>
        <p:spPr>
          <a:xfrm>
            <a:off x="508000" y="23495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q_f = q_f_raw - β × (G_EC_A/G_pH_A) × q_a_raw
q_a = q_a_raw - β × (G_pH_F/G_EC_F) × q_f_raw
β ∈ [0, 0.5]
β = 0 → 关闭解耦
β = 0.5 → 最大部分解耦</a:t>
            </a:r>
            <a:endParaRPr/>
          </a:p>
        </p:txBody>
      </p:sp>
      <p:sp>
        <p:nvSpPr>
          <p:cNvPr id="66" name=""/>
          <p:cNvSpPr/>
          <p:nvPr/>
        </p:nvSpPr>
        <p:spPr>
          <a:xfrm>
            <a:off x="6350000" y="1778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CC3300"/>
                </a:solidFill>
                <a:latin typeface="微软雅黑"/>
                <a:ea typeface="微软雅黑"/>
              </a:rPr>
              <a:t>为什么不用完全解耦</a:t>
            </a:r>
            <a:endParaRPr/>
          </a:p>
        </p:txBody>
      </p:sp>
      <p:sp>
        <p:nvSpPr>
          <p:cNvPr id="67" name=""/>
          <p:cNvSpPr/>
          <p:nvPr/>
        </p:nvSpPr>
        <p:spPr>
          <a:xfrm>
            <a:off x="6350000" y="23495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完全求逆可能造成：
▸ 噪声放大
▸ 负泵命令
▸ 泵饱和
▸ 小模型误差引起严重过补偿
▸ pH 低于安全范围</a:t>
            </a:r>
            <a:endParaRPr/>
          </a:p>
        </p:txBody>
      </p:sp>
      <p:sp>
        <p:nvSpPr>
          <p:cNvPr id="68" name=""/>
          <p:cNvSpPr/>
          <p:nvPr/>
        </p:nvSpPr>
        <p:spPr>
          <a:xfrm>
            <a:off x="508000" y="4191000"/>
            <a:ext cx="11176000" cy="1143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55555"/>
                </a:solidFill>
                <a:latin typeface="微软雅黑"/>
                <a:ea typeface="微软雅黑"/>
              </a:rPr>
              <a:t>安全投影链：非负投影 → 泵流量上下限 → 变化率限制 → 无水禁加药 → pH 低限禁加酸 → 抗积分饱和
解耦仅在 G_EC_F&gt;0, G_pH_A&lt;0, |det(G)|≥min, Water_Flow_OK 全部满足时激活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创新点2：IMC-PI/Smith 大滞后补偿 (V3.2 §5.1)</a:t>
            </a:r>
            <a:endParaRPr/>
          </a:p>
        </p:txBody>
      </p:sp>
      <p:sp>
        <p:nvSpPr>
          <p:cNvPr id="71" name=""/>
          <p:cNvSpPr/>
          <p:nvPr/>
        </p:nvSpPr>
        <p:spPr>
          <a:xfrm>
            <a:off x="508000" y="1016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7000"/>
                </a:solidFill>
                <a:latin typeface="微软雅黑"/>
                <a:ea typeface="微软雅黑"/>
              </a:rPr>
              <a:t>管道和混合过程纯滞后 185-190s，传统 PI 无法有效处理</a:t>
            </a:r>
            <a:endParaRPr/>
          </a:p>
        </p:txBody>
      </p:sp>
      <p:sp>
        <p:nvSpPr>
          <p:cNvPr id="72" name=""/>
          <p:cNvSpPr/>
          <p:nvPr/>
        </p:nvSpPr>
        <p:spPr>
          <a:xfrm>
            <a:off x="508000" y="1651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IMC-PI 整定公式</a:t>
            </a:r>
            <a:endParaRPr/>
          </a:p>
        </p:txBody>
      </p:sp>
      <p:sp>
        <p:nvSpPr>
          <p:cNvPr id="73" name=""/>
          <p:cNvSpPr/>
          <p:nvPr/>
        </p:nvSpPr>
        <p:spPr>
          <a:xfrm>
            <a:off x="508000" y="22225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Kp = τ / (K × (λ + θ))
Ti = τ + θ/2
Ki = Kp / Ti
λ = IMC 滤波参数（控制速度）
θ = 纯滞后
τ = 时间常数
K = 过程增益</a:t>
            </a:r>
            <a:endParaRPr/>
          </a:p>
        </p:txBody>
      </p:sp>
      <p:sp>
        <p:nvSpPr>
          <p:cNvPr id="74" name=""/>
          <p:cNvSpPr/>
          <p:nvPr/>
        </p:nvSpPr>
        <p:spPr>
          <a:xfrm>
            <a:off x="6350000" y="1651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Smith 预测器</a:t>
            </a:r>
            <a:endParaRPr/>
          </a:p>
        </p:txBody>
      </p:sp>
      <p:sp>
        <p:nvSpPr>
          <p:cNvPr id="75" name=""/>
          <p:cNvSpPr/>
          <p:nvPr/>
        </p:nvSpPr>
        <p:spPr>
          <a:xfrm>
            <a:off x="6350000" y="22225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predicted = model_output + (measurement - delayed_model_output)
用内部模型预测当前无滞后输出
在预测值上做 PI 控制
消除纯滞后对控制性能的影响</a:t>
            </a:r>
            <a:endParaRPr/>
          </a:p>
        </p:txBody>
      </p:sp>
      <p:sp>
        <p:nvSpPr>
          <p:cNvPr id="76" name=""/>
          <p:cNvSpPr/>
          <p:nvPr/>
        </p:nvSpPr>
        <p:spPr>
          <a:xfrm>
            <a:off x="508000" y="4064000"/>
            <a:ext cx="11176000" cy="127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λ 越小 → 控制越激进、响应越快，但鲁棒性下降
λ 越大 → 控制越保守、响应越慢，但更鲁棒
论文表述：实际 Kd=0 时写 IMC-PI/Smith；只有 D 项真实实现并验证改善才写 IMC-PID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创新点3：PSO 离线整定 (V3.2 §5.3-5.7)</a:t>
            </a:r>
            <a:endParaRPr/>
          </a:p>
        </p:txBody>
      </p:sp>
      <p:sp>
        <p:nvSpPr>
          <p:cNvPr id="79" name=""/>
          <p:cNvSpPr/>
          <p:nvPr/>
        </p:nvSpPr>
        <p:spPr>
          <a:xfrm>
            <a:off x="508000" y="1016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CC7000"/>
                </a:solidFill>
                <a:latin typeface="微软雅黑"/>
                <a:ea typeface="微软雅黑"/>
              </a:rPr>
              <a:t>算法设计</a:t>
            </a:r>
            <a:endParaRPr/>
          </a:p>
        </p:txBody>
      </p:sp>
      <p:sp>
        <p:nvSpPr>
          <p:cNvPr id="80" name=""/>
          <p:cNvSpPr/>
          <p:nvPr/>
        </p:nvSpPr>
        <p:spPr>
          <a:xfrm>
            <a:off x="508000" y="15875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决策变量：x = [λ_EC, λ_pH, β]
粒子群：30 粒子 × 100 代
独立种子：20 个
惯性权重：0.9 → 0.4 线性衰减
c1 = c2 = 2.0
早停：连续 20 代改善 &lt; 1e-4
运行位置：上位机 Python
不在 S7-1214C 运行</a:t>
            </a:r>
            <a:endParaRPr/>
          </a:p>
        </p:txBody>
      </p:sp>
      <p:sp>
        <p:nvSpPr>
          <p:cNvPr id="81" name=""/>
          <p:cNvSpPr/>
          <p:nvPr/>
        </p:nvSpPr>
        <p:spPr>
          <a:xfrm>
            <a:off x="6350000" y="1016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CC7000"/>
                </a:solidFill>
                <a:latin typeface="微软雅黑"/>
                <a:ea typeface="微软雅黑"/>
              </a:rPr>
              <a:t>目标函数 J (V3.2 §5.6)</a:t>
            </a:r>
            <a:endParaRPr/>
          </a:p>
        </p:txBody>
      </p:sp>
      <p:sp>
        <p:nvSpPr>
          <p:cNvPr id="82" name=""/>
          <p:cNvSpPr/>
          <p:nvPr/>
        </p:nvSpPr>
        <p:spPr>
          <a:xfrm>
            <a:off x="6350000" y="15875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J = 0.45×NEC_IAE + 0.20×NEC_overshoot
  + 0.15×pH_band_violation
  + 0.10×control_TV
  + 0.10×saturation + P
各项除以 C0 基线归一化
硬约束 → J = ∞
20种子中选 J 最低可行解
→ SHA256 哈希锁定</a:t>
            </a:r>
            <a:endParaRPr/>
          </a:p>
        </p:txBody>
      </p:sp>
      <p:sp>
        <p:nvSpPr>
          <p:cNvPr id="83" name=""/>
          <p:cNvSpPr/>
          <p:nvPr/>
        </p:nvSpPr>
        <p:spPr>
          <a:xfrm>
            <a:off x="508000" y="38100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07A3D"/>
                </a:solidFill>
                <a:latin typeface="微软雅黑"/>
                <a:ea typeface="微软雅黑"/>
              </a:rPr>
              <a:t>已实现 (Quick 验证通过)</a:t>
            </a:r>
            <a:endParaRPr/>
          </a:p>
        </p:txBody>
      </p:sp>
      <p:sp>
        <p:nvSpPr>
          <p:cNvPr id="84" name=""/>
          <p:cNvSpPr/>
          <p:nvPr/>
        </p:nvSpPr>
        <p:spPr>
          <a:xfrm>
            <a:off x="508000" y="4381500"/>
            <a:ext cx="11176000" cy="1016000"/>
          </a:xfrm>
          <a:prstGeom prst="rect">
            <a:avLst/>
          </a:prstGeom>
          <a:solidFill>
            <a:srgbClr val="E8FEF0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55555"/>
                </a:solidFill>
                <a:latin typeface="微软雅黑"/>
                <a:ea typeface="微软雅黑"/>
              </a:rPr>
              <a:t>3/3 种子 100% 可行，J ≈ 0.60，6-9 代即收敛
产出：locked_controller.yaml + pso_runs.csv + convergence_*.csv
文件：scripts/pso_core.py, pso_env.py, pso_objective.py, pso_optimizer.py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创新点4：SAC 残差动作策略 (第二篇论文)</a:t>
            </a:r>
            <a:endParaRPr/>
          </a:p>
        </p:txBody>
      </p:sp>
      <p:sp>
        <p:nvSpPr>
          <p:cNvPr id="87" name=""/>
          <p:cNvSpPr/>
          <p:nvPr/>
        </p:nvSpPr>
        <p:spPr>
          <a:xfrm>
            <a:off x="508000" y="1016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残差动作设计</a:t>
            </a:r>
            <a:endParaRPr/>
          </a:p>
        </p:txBody>
      </p:sp>
      <p:sp>
        <p:nvSpPr>
          <p:cNvPr id="88" name=""/>
          <p:cNvSpPr/>
          <p:nvPr/>
        </p:nvSpPr>
        <p:spPr>
          <a:xfrm>
            <a:off x="508000" y="15875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action = [water_multiplier, EC_residual]
SAC 只在阶段基线附近做残差决策：
▸ water_multiplier ∈ [0.8, 1.2]
▸ EC_residual ∈ [-0.15, 0.15] dS/m
pH 不作为 SAC 动作
由 PLC 酸脉冲安全带控制</a:t>
            </a:r>
            <a:endParaRPr/>
          </a:p>
        </p:txBody>
      </p:sp>
      <p:sp>
        <p:nvSpPr>
          <p:cNvPr id="89" name=""/>
          <p:cNvSpPr/>
          <p:nvPr/>
        </p:nvSpPr>
        <p:spPr>
          <a:xfrm>
            <a:off x="6350000" y="1016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23 维观测空间</a:t>
            </a:r>
            <a:endParaRPr/>
          </a:p>
        </p:txBody>
      </p:sp>
      <p:sp>
        <p:nvSpPr>
          <p:cNvPr id="90" name=""/>
          <p:cNvSpPr/>
          <p:nvPr/>
        </p:nvSpPr>
        <p:spPr>
          <a:xfrm>
            <a:off x="6350000" y="15875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[θ历史5维, EC_soil历史5维,
 ec_drip历史5维, ph_drip历史5维,
 ETc归一化, target_EC归一化,
 stage_code]
域随机化：土壤参数加噪
增强模型迁移鲁棒性</a:t>
            </a:r>
            <a:endParaRPr/>
          </a:p>
        </p:txBody>
      </p:sp>
      <p:sp>
        <p:nvSpPr>
          <p:cNvPr id="91" name=""/>
          <p:cNvSpPr/>
          <p:nvPr/>
        </p:nvSpPr>
        <p:spPr>
          <a:xfrm>
            <a:off x="508000" y="3810000"/>
            <a:ext cx="11176000" cy="1524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多目标奖励：-EC跟踪误差² - pH安全带偏差² - 设定点跟踪误差² - 流量惩罚 + WUE奖励 + 硬约束惩罚
4阶段感知训练：INI/DEV/MID/LATE，每阶段独立模型或统一策略
T1(等量灌溉) vs T2(根系分布变量灌溉) 季节对比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完整试验矩阵 E0-E7 (V3.2 §6-7)</a:t>
            </a:r>
            <a:endParaRPr/>
          </a:p>
        </p:txBody>
      </p:sp>
      <p:sp>
        <p:nvSpPr>
          <p:cNvPr id="94" name=""/>
          <p:cNvSpPr/>
          <p:nvPr/>
        </p:nvSpPr>
        <p:spPr>
          <a:xfrm>
            <a:off x="508000" y="1016000"/>
            <a:ext cx="11176000" cy="330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3333"/>
                </a:solidFill>
                <a:latin typeface="Consolas"/>
                <a:ea typeface="Consolas"/>
              </a:rPr>
              <a:t>编号 │ 试验名称         │ 主要因素              │ 重复  │ 主要输出
─────┼──────────────────┼───────────────────────┼───────┼──────────────────
 E0  │ 传感器和泵标定    │ EC/pH/泵/流量/压力     │ 各3次 │ 测量不确定度+泵曲线
 E1  │ 对象辨识         │ 3工作点 qf/qa 阶跃     │ 每件3次│ G(s) 延迟 时间常数
 E2  │ 解耦筛选         │ β=0/0.1/0.25/PSO      │ 20种子 │ 交叉响应+主回路代价
 E3  │ 内模基线         │ 固定PI vs 解析IMC      │ 配对   │ IAE 超调 调节时间
 E4  │ PSO 离线整定     │ λ_EC λ_pH β           │ 20种子 │ 收敛+锁定参数
 E5  │ 完整仿真         │ C0-C5 3工作点 扰动    │ ≥100  │ 消融 鲁棒性 失效
 E6  │ 物理试验台闭环   │ 中点C0-C5 低高C0/C5  │ 每件3次│ EC精度 pH带内率
 E7  │ 统计与复现       │ 批次 日期 模型版本    │ 全部  │ 效应量 95%CI 复现包</a:t>
            </a:r>
            <a:endParaRPr/>
          </a:p>
        </p:txBody>
      </p:sp>
      <p:sp>
        <p:nvSpPr>
          <p:cNvPr id="95" name=""/>
          <p:cNvSpPr/>
          <p:nvPr/>
        </p:nvSpPr>
        <p:spPr>
          <a:xfrm>
            <a:off x="508000" y="4572000"/>
            <a:ext cx="11176000" cy="762000"/>
          </a:xfrm>
          <a:prstGeom prst="rect">
            <a:avLst/>
          </a:prstGeom>
          <a:solidFill>
            <a:srgbClr val="FEF3E8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CC7000"/>
                </a:solidFill>
                <a:latin typeface="微软雅黑"/>
                <a:ea typeface="微软雅黑"/>
              </a:rPr>
              <a:t>E6 物理试验台：中点 72 次 + 低高 48 次 = 120 次闭环试验
四类工况：EC阶跃 / 水流扰动 / 浓度偏差 / 联合扰动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控制器消融设计 C0-C5 (V3.2 §5.2)</a:t>
            </a:r>
            <a:endParaRPr/>
          </a:p>
        </p:txBody>
      </p:sp>
      <p:sp>
        <p:nvSpPr>
          <p:cNvPr id="7" name=""/>
          <p:cNvSpPr/>
          <p:nvPr/>
        </p:nvSpPr>
        <p:spPr>
          <a:xfrm>
            <a:off x="508000" y="1016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7000"/>
                </a:solidFill>
                <a:latin typeface="微软雅黑"/>
                <a:ea typeface="微软雅黑"/>
              </a:rPr>
              <a:t>解耦开关 × 整定方式 = 2×3 因子设计，分离各环节贡献</a:t>
            </a:r>
            <a:endParaRPr/>
          </a:p>
        </p:txBody>
      </p:sp>
      <p:sp>
        <p:nvSpPr>
          <p:cNvPr id="8" name=""/>
          <p:cNvSpPr/>
          <p:nvPr/>
        </p:nvSpPr>
        <p:spPr>
          <a:xfrm>
            <a:off x="508000" y="1651000"/>
            <a:ext cx="11176000" cy="279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控制器 │ 解耦 │ 整定方式              │ 作用
───────┼──────┼───────────────────────┼──────────────────
 C0    │ OFF  │ 现有固定 PI            │ 基础基线
 C1    │ ON   │ 固定 PI               │ 分离解耦贡献
 C2    │ OFF  │ 解析 IMC-PI/PID       │ 分离内模整定贡献
 C3    │ ON   │ 解析 IMC-PI/PID       │ 解耦 + 内模基线
 C4    │ OFF  │ PSO 离线优化 IMC 参数  │ 分离 PSO 整定贡献
 C5    │ ON   │ PSO 离线优化 IMC+β    │ 拟议完整方法</a:t>
            </a:r>
            <a:endParaRPr/>
          </a:p>
        </p:txBody>
      </p:sp>
      <p:sp>
        <p:nvSpPr>
          <p:cNvPr id="9" name=""/>
          <p:cNvSpPr/>
          <p:nvPr/>
        </p:nvSpPr>
        <p:spPr>
          <a:xfrm>
            <a:off x="508000" y="4699000"/>
            <a:ext cx="11176000" cy="635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比只比较「普通PID」和「PSO-IMC-PID」更有说服力
能回答性能到底来自解耦、内模结构还是离线整定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评价指标与验收门槛 (V3.2 §8)</a:t>
            </a:r>
            <a:endParaRPr/>
          </a:p>
        </p:txBody>
      </p:sp>
      <p:sp>
        <p:nvSpPr>
          <p:cNvPr id="12" name=""/>
          <p:cNvSpPr/>
          <p:nvPr/>
        </p:nvSpPr>
        <p:spPr>
          <a:xfrm>
            <a:off x="508000" y="1016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EC 主要指标</a:t>
            </a:r>
            <a:endParaRPr/>
          </a:p>
        </p:txBody>
      </p:sp>
      <p:sp>
        <p:nvSpPr>
          <p:cNvPr id="13" name=""/>
          <p:cNvSpPr/>
          <p:nvPr/>
        </p:nvSpPr>
        <p:spPr>
          <a:xfrm>
            <a:off x="508000" y="15875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全过程 MAE      ≤ 0.05 dS/m
稳态 MAE (中点) ≤ 0.03 dS/m
EC 带内率       ≥ 95% (±0.05)
IAE            C5 显著低于 C0
超调           ≤ 10%
调节时间        相对基线下降</a:t>
            </a:r>
            <a:endParaRPr/>
          </a:p>
        </p:txBody>
      </p:sp>
      <p:sp>
        <p:nvSpPr>
          <p:cNvPr id="14" name=""/>
          <p:cNvSpPr/>
          <p:nvPr/>
        </p:nvSpPr>
        <p:spPr>
          <a:xfrm>
            <a:off x="6350000" y="1016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pH 主要指标</a:t>
            </a:r>
            <a:endParaRPr/>
          </a:p>
        </p:txBody>
      </p:sp>
      <p:sp>
        <p:nvSpPr>
          <p:cNvPr id="15" name=""/>
          <p:cNvSpPr/>
          <p:nvPr/>
        </p:nvSpPr>
        <p:spPr>
          <a:xfrm>
            <a:off x="6350000" y="15875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5.8-6.5 带内率  ≥ 95%
最低 pH        ≥ 5.5
pH 带外积分    相对 C0 下降
低 pH 时酸泵    必须停止
pH 传感器故障   酸泵必须停止</a:t>
            </a:r>
            <a:endParaRPr/>
          </a:p>
        </p:txBody>
      </p:sp>
      <p:sp>
        <p:nvSpPr>
          <p:cNvPr id="16" name=""/>
          <p:cNvSpPr/>
          <p:nvPr/>
        </p:nvSpPr>
        <p:spPr>
          <a:xfrm>
            <a:off x="508000" y="3810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解耦指标</a:t>
            </a:r>
            <a:endParaRPr/>
          </a:p>
        </p:txBody>
      </p:sp>
      <p:sp>
        <p:nvSpPr>
          <p:cNvPr id="17" name=""/>
          <p:cNvSpPr/>
          <p:nvPr/>
        </p:nvSpPr>
        <p:spPr>
          <a:xfrm>
            <a:off x="508000" y="43815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平均交叉响应降低 ≥ 20%
主回路 IAE 退化  ≤ 10%
泵饱和 不高于无解耦基线
安全事件 不增加</a:t>
            </a:r>
            <a:endParaRPr/>
          </a:p>
        </p:txBody>
      </p:sp>
      <p:sp>
        <p:nvSpPr>
          <p:cNvPr id="18" name=""/>
          <p:cNvSpPr/>
          <p:nvPr/>
        </p:nvSpPr>
        <p:spPr>
          <a:xfrm>
            <a:off x="6350000" y="3810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执行与安全指标</a:t>
            </a:r>
            <a:endParaRPr/>
          </a:p>
        </p:txBody>
      </p:sp>
      <p:sp>
        <p:nvSpPr>
          <p:cNvPr id="19" name=""/>
          <p:cNvSpPr/>
          <p:nvPr/>
        </p:nvSpPr>
        <p:spPr>
          <a:xfrm>
            <a:off x="6350000" y="43815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泵命令总变差
上下限饱和率
抗积分饱和触发时间
无水禁加药响应
急停/故障/通信超时响应
通信恢复后不自动重启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统计分析与随机化 (V3.2 §9)</a:t>
            </a:r>
            <a:endParaRPr/>
          </a:p>
        </p:txBody>
      </p:sp>
      <p:sp>
        <p:nvSpPr>
          <p:cNvPr id="22" name=""/>
          <p:cNvSpPr/>
          <p:nvPr/>
        </p:nvSpPr>
        <p:spPr>
          <a:xfrm>
            <a:off x="508000" y="1016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分析单位</a:t>
            </a:r>
            <a:endParaRPr/>
          </a:p>
        </p:txBody>
      </p:sp>
      <p:sp>
        <p:nvSpPr>
          <p:cNvPr id="23" name=""/>
          <p:cNvSpPr/>
          <p:nvPr/>
        </p:nvSpPr>
        <p:spPr>
          <a:xfrm>
            <a:off x="508000" y="1587500"/>
            <a:ext cx="5334000" cy="1270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仿真：完整 scenario_id
试验台：一次完整 run_id
时间采样点不是独立重复
不能把几千采样点当几千样本</a:t>
            </a:r>
            <a:endParaRPr/>
          </a:p>
        </p:txBody>
      </p:sp>
      <p:sp>
        <p:nvSpPr>
          <p:cNvPr id="24" name=""/>
          <p:cNvSpPr/>
          <p:nvPr/>
        </p:nvSpPr>
        <p:spPr>
          <a:xfrm>
            <a:off x="6350000" y="1016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随机化</a:t>
            </a:r>
            <a:endParaRPr/>
          </a:p>
        </p:txBody>
      </p:sp>
      <p:sp>
        <p:nvSpPr>
          <p:cNvPr id="25" name=""/>
          <p:cNvSpPr/>
          <p:nvPr/>
        </p:nvSpPr>
        <p:spPr>
          <a:xfrm>
            <a:off x="6350000" y="1587500"/>
            <a:ext cx="5334000" cy="1270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以试验日或母液批次为区组
区组内随机控制器顺序
工作点和扰动顺序平衡化
避免 C5 总在新母液/低温运行</a:t>
            </a:r>
            <a:endParaRPr/>
          </a:p>
        </p:txBody>
      </p:sp>
      <p:sp>
        <p:nvSpPr>
          <p:cNvPr id="26" name=""/>
          <p:cNvSpPr/>
          <p:nvPr/>
        </p:nvSpPr>
        <p:spPr>
          <a:xfrm>
            <a:off x="508000" y="31750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统计模型</a:t>
            </a:r>
            <a:endParaRPr/>
          </a:p>
        </p:txBody>
      </p:sp>
      <p:sp>
        <p:nvSpPr>
          <p:cNvPr id="27" name=""/>
          <p:cNvSpPr/>
          <p:nvPr/>
        </p:nvSpPr>
        <p:spPr>
          <a:xfrm>
            <a:off x="508000" y="3746500"/>
            <a:ext cx="11176000" cy="1524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55555"/>
                </a:solidFill>
                <a:latin typeface="微软雅黑"/>
                <a:ea typeface="微软雅黑"/>
              </a:rPr>
              <a:t>仿真：配对差值 C5-C0, C5-C3, C5-C4 → 均值/中位数/95% bootstrap CI/效应量/胜率，Holm 校正
试验台：date/batch 随机效应，controller/decoupling/tuning/working_point/disturbance 固定效应
         残差不满足正态时用稳健模型或非参数配对检验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PLC 安全验收 (V3.2 §10)</a:t>
            </a:r>
            <a:endParaRPr/>
          </a:p>
        </p:txBody>
      </p:sp>
      <p:sp>
        <p:nvSpPr>
          <p:cNvPr id="30" name=""/>
          <p:cNvSpPr/>
          <p:nvPr/>
        </p:nvSpPr>
        <p:spPr>
          <a:xfrm>
            <a:off x="508000" y="1016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7000"/>
                </a:solidFill>
                <a:latin typeface="微软雅黑"/>
                <a:ea typeface="微软雅黑"/>
              </a:rPr>
              <a:t>执行许可条件全部满足才允许输出</a:t>
            </a:r>
            <a:endParaRPr/>
          </a:p>
        </p:txBody>
      </p:sp>
      <p:sp>
        <p:nvSpPr>
          <p:cNvPr id="31" name=""/>
          <p:cNvSpPr/>
          <p:nvPr/>
        </p:nvSpPr>
        <p:spPr>
          <a:xfrm>
            <a:off x="508000" y="1587500"/>
            <a:ext cx="11176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3333"/>
                </a:solidFill>
                <a:latin typeface="Consolas"/>
                <a:ea typeface="Consolas"/>
              </a:rPr>
              <a:t>Actuator_Enable_Request AND 物理调试钥匙 AND Physical_EStop_OK AND Field_IO_Ready
AND NOT Sensor_Fault_Any AND NOT Drive_Fault_Any AND Water_Flow_OK
→ 任意一项失效，AO/DO 立即归零</a:t>
            </a:r>
            <a:endParaRPr/>
          </a:p>
        </p:txBody>
      </p:sp>
      <p:sp>
        <p:nvSpPr>
          <p:cNvPr id="32" name=""/>
          <p:cNvSpPr/>
          <p:nvPr/>
        </p:nvSpPr>
        <p:spPr>
          <a:xfrm>
            <a:off x="508000" y="3365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必测故障</a:t>
            </a:r>
            <a:endParaRPr/>
          </a:p>
        </p:txBody>
      </p:sp>
      <p:sp>
        <p:nvSpPr>
          <p:cNvPr id="33" name=""/>
          <p:cNvSpPr/>
          <p:nvPr/>
        </p:nvSpPr>
        <p:spPr>
          <a:xfrm>
            <a:off x="508000" y="3937000"/>
            <a:ext cx="11176000" cy="1524000"/>
          </a:xfrm>
          <a:prstGeom prst="rect">
            <a:avLst/>
          </a:prstGeom>
          <a:solidFill>
            <a:srgbClr val="FEE8E8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55555"/>
                </a:solidFill>
                <a:latin typeface="微软雅黑"/>
                <a:ea typeface="微软雅黑"/>
              </a:rPr>
              <a:t>主水流丢失 → NPK泵+酸泵全停     pH&lt;5.5 → 酸泵立即停止
EC传感器断线 → 撤销自动加肥        上位机心跳超时 → 安全停机
pH传感器断线 → 酸泵停止             驱动故障 → 泵停止+联锁
物理急停 → 硬件回路切断              通信恢复 → 不得自动重启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进度与下一步</a:t>
            </a:r>
            <a:endParaRPr/>
          </a:p>
        </p:txBody>
      </p:sp>
      <p:sp>
        <p:nvSpPr>
          <p:cNvPr id="36" name=""/>
          <p:cNvSpPr/>
          <p:nvPr/>
        </p:nvSpPr>
        <p:spPr>
          <a:xfrm>
            <a:off x="508000" y="1016000"/>
            <a:ext cx="3556000" cy="1778000"/>
          </a:xfrm>
          <a:prstGeom prst="rect">
            <a:avLst/>
          </a:prstGeom>
          <a:solidFill>
            <a:srgbClr val="E8FEF0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07A3D"/>
                </a:solidFill>
                <a:latin typeface="微软雅黑"/>
                <a:ea typeface="微软雅黑"/>
              </a:rPr>
              <a:t>✅ 已完成
▸ 试验设计 V3.2
▸ NPK 三泵→单泵修正
▸ PSO 离线整定实现
▸ Quick 验证通过
▸ PLC 通信与 DB1
▸ SAC 训练框架
▸ E3 增益辨识</a:t>
            </a:r>
            <a:endParaRPr/>
          </a:p>
        </p:txBody>
      </p:sp>
      <p:sp>
        <p:nvSpPr>
          <p:cNvPr id="37" name=""/>
          <p:cNvSpPr/>
          <p:nvPr/>
        </p:nvSpPr>
        <p:spPr>
          <a:xfrm>
            <a:off x="4318000" y="1016000"/>
            <a:ext cx="3556000" cy="1778000"/>
          </a:xfrm>
          <a:prstGeom prst="rect">
            <a:avLst/>
          </a:prstGeom>
          <a:solidFill>
            <a:srgbClr val="FEF3E8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CC7000"/>
                </a:solidFill>
                <a:latin typeface="微软雅黑"/>
                <a:ea typeface="微软雅黑"/>
              </a:rPr>
              <a:t>🔄 进行中
▸ PSO 正式运行 (20种子)
▸ E5 仿真消融脚本
▸ 增益调度完善
▸ 解耦 A/B 验证</a:t>
            </a:r>
            <a:endParaRPr/>
          </a:p>
        </p:txBody>
      </p:sp>
      <p:sp>
        <p:nvSpPr>
          <p:cNvPr id="38" name=""/>
          <p:cNvSpPr/>
          <p:nvPr/>
        </p:nvSpPr>
        <p:spPr>
          <a:xfrm>
            <a:off x="8128000" y="1016000"/>
            <a:ext cx="3048000" cy="177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888888"/>
                </a:solidFill>
                <a:latin typeface="微软雅黑"/>
                <a:ea typeface="微软雅黑"/>
              </a:rPr>
              <a:t>⬜ 待实现
▸ E6 物理试验台
▸ 120 次闭环验证
▸ PLC 参数下载
▸ 论文写作与投稿</a:t>
            </a:r>
            <a:endParaRPr/>
          </a:p>
        </p:txBody>
      </p:sp>
      <p:sp>
        <p:nvSpPr>
          <p:cNvPr id="39" name=""/>
          <p:cNvSpPr/>
          <p:nvPr/>
        </p:nvSpPr>
        <p:spPr>
          <a:xfrm>
            <a:off x="508000" y="31750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投稿方向</a:t>
            </a:r>
            <a:endParaRPr/>
          </a:p>
        </p:txBody>
      </p:sp>
      <p:sp>
        <p:nvSpPr>
          <p:cNvPr id="40" name=""/>
          <p:cNvSpPr/>
          <p:nvPr/>
        </p:nvSpPr>
        <p:spPr>
          <a:xfrm>
            <a:off x="508000" y="3746500"/>
            <a:ext cx="11176000" cy="1524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55555"/>
                </a:solidFill>
                <a:latin typeface="微软雅黑"/>
                <a:ea typeface="微软雅黑"/>
              </a:rPr>
              <a:t>1. Int. J. of Dynamics and Control — 动态模型、解耦、内模控制、仿真和试验验证
2. Applied Engineering in Agriculture — 水肥装备、PLC、传感器和物理试验台
3. Journal of the ASABE — 农业工程试验和统计验证
4. J. of Irrigation and Drainage Eng. — 灌溉施肥设备和水力应用
5. Biosystems Engineering — 更高要求，需更强试验和模型创新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2026-07-27T23:24:04Z</dcterms:created>
  <dcterms:modified xsi:type="dcterms:W3CDTF">2026-07-27T23:24:04Z</dcterms:modified>
</cp:coreProperties>
</file>